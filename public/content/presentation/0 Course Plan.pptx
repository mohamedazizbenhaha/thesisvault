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4" r:id="rId2"/>
    <p:sldId id="320" r:id="rId3"/>
    <p:sldId id="347" r:id="rId4"/>
    <p:sldId id="349" r:id="rId5"/>
    <p:sldId id="348" r:id="rId6"/>
    <p:sldId id="264" r:id="rId7"/>
    <p:sldId id="353" r:id="rId8"/>
    <p:sldId id="354" r:id="rId9"/>
    <p:sldId id="355" r:id="rId10"/>
    <p:sldId id="351" r:id="rId11"/>
    <p:sldId id="35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d Aziz ben Haha" initials="MAbH" lastIdx="1" clrIdx="0">
    <p:extLst>
      <p:ext uri="{19B8F6BF-5375-455C-9EA6-DF929625EA0E}">
        <p15:presenceInfo xmlns:p15="http://schemas.microsoft.com/office/powerpoint/2012/main" userId="7a6e410b5d8511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E4"/>
    <a:srgbClr val="34393D"/>
    <a:srgbClr val="2E75B6"/>
    <a:srgbClr val="5A9BD5"/>
    <a:srgbClr val="8ADD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009" autoAdjust="0"/>
  </p:normalViewPr>
  <p:slideViewPr>
    <p:cSldViewPr snapToGrid="0">
      <p:cViewPr varScale="1">
        <p:scale>
          <a:sx n="80" d="100"/>
          <a:sy n="80" d="100"/>
        </p:scale>
        <p:origin x="739" y="6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7EFA9D-9B4F-4D1F-9514-F5C976F7E337}" type="datetimeFigureOut">
              <a:rPr lang="en-GB" smtClean="0"/>
              <a:t>26/01/2025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24E948-E001-4CB5-9469-E45F76EF47E6}" type="slidenum">
              <a:rPr lang="en-GB" smtClean="0"/>
              <a:t>‹#›</a:t>
            </a:fld>
            <a:endParaRPr lang="en-GB"/>
          </a:p>
        </p:txBody>
      </p:sp>
    </p:spTree>
    <p:extLst>
      <p:ext uri="{BB962C8B-B14F-4D97-AF65-F5344CB8AC3E}">
        <p14:creationId xmlns:p14="http://schemas.microsoft.com/office/powerpoint/2010/main" val="1462549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24E948-E001-4CB5-9469-E45F76EF47E6}" type="slidenum">
              <a:rPr lang="en-GB" smtClean="0"/>
              <a:t>2</a:t>
            </a:fld>
            <a:endParaRPr lang="en-GB"/>
          </a:p>
        </p:txBody>
      </p:sp>
    </p:spTree>
    <p:extLst>
      <p:ext uri="{BB962C8B-B14F-4D97-AF65-F5344CB8AC3E}">
        <p14:creationId xmlns:p14="http://schemas.microsoft.com/office/powerpoint/2010/main" val="3294925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24E948-E001-4CB5-9469-E45F76EF47E6}" type="slidenum">
              <a:rPr lang="en-GB" smtClean="0"/>
              <a:t>4</a:t>
            </a:fld>
            <a:endParaRPr lang="en-GB"/>
          </a:p>
        </p:txBody>
      </p:sp>
    </p:spTree>
    <p:extLst>
      <p:ext uri="{BB962C8B-B14F-4D97-AF65-F5344CB8AC3E}">
        <p14:creationId xmlns:p14="http://schemas.microsoft.com/office/powerpoint/2010/main" val="348979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433F2-66D2-C862-EE9D-E1B86C49F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1219A-2976-46E5-4656-025C981E27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2AD57-AA59-5E8E-9F9A-F4BD7EB2E86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77C8AA9-55BD-FDD1-FB37-BEE11B38B574}"/>
              </a:ext>
            </a:extLst>
          </p:cNvPr>
          <p:cNvSpPr>
            <a:spLocks noGrp="1"/>
          </p:cNvSpPr>
          <p:nvPr>
            <p:ph type="sldNum" sz="quarter" idx="5"/>
          </p:nvPr>
        </p:nvSpPr>
        <p:spPr/>
        <p:txBody>
          <a:bodyPr/>
          <a:lstStyle/>
          <a:p>
            <a:fld id="{7E24E948-E001-4CB5-9469-E45F76EF47E6}" type="slidenum">
              <a:rPr lang="en-GB" smtClean="0"/>
              <a:t>7</a:t>
            </a:fld>
            <a:endParaRPr lang="en-GB"/>
          </a:p>
        </p:txBody>
      </p:sp>
    </p:spTree>
    <p:extLst>
      <p:ext uri="{BB962C8B-B14F-4D97-AF65-F5344CB8AC3E}">
        <p14:creationId xmlns:p14="http://schemas.microsoft.com/office/powerpoint/2010/main" val="2438962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C382B-F40B-F47D-561B-DCF27865E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0B7A6-D63A-82C1-EE84-E8730630B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26C0C1-18C0-C580-D1F1-A8B39AE94A5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580856-875C-1C25-44B2-EC3CCA9D40B7}"/>
              </a:ext>
            </a:extLst>
          </p:cNvPr>
          <p:cNvSpPr>
            <a:spLocks noGrp="1"/>
          </p:cNvSpPr>
          <p:nvPr>
            <p:ph type="sldNum" sz="quarter" idx="5"/>
          </p:nvPr>
        </p:nvSpPr>
        <p:spPr/>
        <p:txBody>
          <a:bodyPr/>
          <a:lstStyle/>
          <a:p>
            <a:fld id="{7E24E948-E001-4CB5-9469-E45F76EF47E6}" type="slidenum">
              <a:rPr lang="en-GB" smtClean="0"/>
              <a:t>8</a:t>
            </a:fld>
            <a:endParaRPr lang="en-GB"/>
          </a:p>
        </p:txBody>
      </p:sp>
    </p:spTree>
    <p:extLst>
      <p:ext uri="{BB962C8B-B14F-4D97-AF65-F5344CB8AC3E}">
        <p14:creationId xmlns:p14="http://schemas.microsoft.com/office/powerpoint/2010/main" val="2933430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7E24E948-E001-4CB5-9469-E45F76EF47E6}" type="slidenum">
              <a:rPr lang="en-GB" smtClean="0"/>
              <a:t>10</a:t>
            </a:fld>
            <a:endParaRPr lang="en-GB"/>
          </a:p>
        </p:txBody>
      </p:sp>
    </p:spTree>
    <p:extLst>
      <p:ext uri="{BB962C8B-B14F-4D97-AF65-F5344CB8AC3E}">
        <p14:creationId xmlns:p14="http://schemas.microsoft.com/office/powerpoint/2010/main" val="3961184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9D59A-41E9-17E8-03EC-8E8EE73288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BD6A385-96C1-2105-77F3-BB9EC607E3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954B9AB-F39C-4F07-D3AE-50333505BBC3}"/>
              </a:ext>
            </a:extLst>
          </p:cNvPr>
          <p:cNvSpPr>
            <a:spLocks noGrp="1"/>
          </p:cNvSpPr>
          <p:nvPr>
            <p:ph type="dt" sz="half" idx="10"/>
          </p:nvPr>
        </p:nvSpPr>
        <p:spPr/>
        <p:txBody>
          <a:bodyPr/>
          <a:lstStyle/>
          <a:p>
            <a:fld id="{7F675FAE-CDBD-4B54-AD0E-A4CEDB17871E}" type="datetime1">
              <a:rPr lang="en-GB" smtClean="0"/>
              <a:t>27/01/2025</a:t>
            </a:fld>
            <a:endParaRPr lang="en-GB"/>
          </a:p>
        </p:txBody>
      </p:sp>
      <p:sp>
        <p:nvSpPr>
          <p:cNvPr id="5" name="Footer Placeholder 4">
            <a:extLst>
              <a:ext uri="{FF2B5EF4-FFF2-40B4-BE49-F238E27FC236}">
                <a16:creationId xmlns:a16="http://schemas.microsoft.com/office/drawing/2014/main" id="{B4C56535-2AB5-77F2-7C59-0FE7D360AE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38DB03-5BA0-540D-6D13-A62E7DC989EE}"/>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1083692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25CEE-3FF9-4E62-B0A2-93485F528D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277A3F-C850-D3C1-6B5E-8A07426F20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1F6393-1760-1E48-5589-5DAA26F874FD}"/>
              </a:ext>
            </a:extLst>
          </p:cNvPr>
          <p:cNvSpPr>
            <a:spLocks noGrp="1"/>
          </p:cNvSpPr>
          <p:nvPr>
            <p:ph type="dt" sz="half" idx="10"/>
          </p:nvPr>
        </p:nvSpPr>
        <p:spPr/>
        <p:txBody>
          <a:bodyPr/>
          <a:lstStyle/>
          <a:p>
            <a:fld id="{5A062F76-FE1F-410F-A807-39BDC9646802}" type="datetime1">
              <a:rPr lang="en-GB" smtClean="0"/>
              <a:t>27/01/2025</a:t>
            </a:fld>
            <a:endParaRPr lang="en-GB"/>
          </a:p>
        </p:txBody>
      </p:sp>
      <p:sp>
        <p:nvSpPr>
          <p:cNvPr id="5" name="Footer Placeholder 4">
            <a:extLst>
              <a:ext uri="{FF2B5EF4-FFF2-40B4-BE49-F238E27FC236}">
                <a16:creationId xmlns:a16="http://schemas.microsoft.com/office/drawing/2014/main" id="{A1E8E986-ACD4-98FF-E05C-A202F03807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E48D34-DBA6-FBD1-A2FC-9F568750E60A}"/>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2883312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DC9A9-1FC8-130C-F4D9-7938C8FC3E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51AC13A-EBFC-DB80-5BEC-3268B75D84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7CD2CF-4016-33E0-A261-32386F14A0D4}"/>
              </a:ext>
            </a:extLst>
          </p:cNvPr>
          <p:cNvSpPr>
            <a:spLocks noGrp="1"/>
          </p:cNvSpPr>
          <p:nvPr>
            <p:ph type="dt" sz="half" idx="10"/>
          </p:nvPr>
        </p:nvSpPr>
        <p:spPr/>
        <p:txBody>
          <a:bodyPr/>
          <a:lstStyle/>
          <a:p>
            <a:fld id="{50AC54F1-86DA-41DA-BC74-1C1576634ED9}" type="datetime1">
              <a:rPr lang="en-GB" smtClean="0"/>
              <a:t>27/01/2025</a:t>
            </a:fld>
            <a:endParaRPr lang="en-GB"/>
          </a:p>
        </p:txBody>
      </p:sp>
      <p:sp>
        <p:nvSpPr>
          <p:cNvPr id="5" name="Footer Placeholder 4">
            <a:extLst>
              <a:ext uri="{FF2B5EF4-FFF2-40B4-BE49-F238E27FC236}">
                <a16:creationId xmlns:a16="http://schemas.microsoft.com/office/drawing/2014/main" id="{D5864D4D-1746-BFE8-B085-6B0C5C4854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8CF4F2-382A-752A-CAD8-F690A29D1A2D}"/>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2986075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7A12-0ACF-0C95-91FF-CBCF5B8D25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3274D24-26FB-3BDC-2634-886318B5B5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264D6EE-D774-75F1-9361-67BBA53995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BFED279-9061-3D81-E0DF-45DEF2F3F456}"/>
              </a:ext>
            </a:extLst>
          </p:cNvPr>
          <p:cNvSpPr>
            <a:spLocks noGrp="1"/>
          </p:cNvSpPr>
          <p:nvPr>
            <p:ph type="dt" sz="half" idx="10"/>
          </p:nvPr>
        </p:nvSpPr>
        <p:spPr/>
        <p:txBody>
          <a:bodyPr/>
          <a:lstStyle/>
          <a:p>
            <a:fld id="{E1FD211D-C510-4B22-9A10-AE5EFED88277}" type="datetime1">
              <a:rPr lang="en-GB" smtClean="0"/>
              <a:t>27/01/2025</a:t>
            </a:fld>
            <a:endParaRPr lang="en-GB"/>
          </a:p>
        </p:txBody>
      </p:sp>
      <p:sp>
        <p:nvSpPr>
          <p:cNvPr id="6" name="Footer Placeholder 5">
            <a:extLst>
              <a:ext uri="{FF2B5EF4-FFF2-40B4-BE49-F238E27FC236}">
                <a16:creationId xmlns:a16="http://schemas.microsoft.com/office/drawing/2014/main" id="{75DA8E69-77CD-86DB-BA1A-02395136A37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8AA29AF-C6D4-8476-C988-A46EF1B597E3}"/>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138990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8680-8E4F-034A-3441-9968F21B6D9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F5E0F2-26CF-4E14-E5E3-45798FCEED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889409-AE3C-0700-270C-5FE51F1677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B2282F9-BD05-16BF-E828-4F7FF74577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42D36D-50AF-89EF-8EAF-8F820F2A75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0670710-57DF-31DA-8EFD-1DC912A3BAB0}"/>
              </a:ext>
            </a:extLst>
          </p:cNvPr>
          <p:cNvSpPr>
            <a:spLocks noGrp="1"/>
          </p:cNvSpPr>
          <p:nvPr>
            <p:ph type="dt" sz="half" idx="10"/>
          </p:nvPr>
        </p:nvSpPr>
        <p:spPr/>
        <p:txBody>
          <a:bodyPr/>
          <a:lstStyle/>
          <a:p>
            <a:fld id="{421B044A-4642-4387-8403-9FD0B50034EB}" type="datetime1">
              <a:rPr lang="en-GB" smtClean="0"/>
              <a:t>27/01/2025</a:t>
            </a:fld>
            <a:endParaRPr lang="en-GB"/>
          </a:p>
        </p:txBody>
      </p:sp>
      <p:sp>
        <p:nvSpPr>
          <p:cNvPr id="8" name="Footer Placeholder 7">
            <a:extLst>
              <a:ext uri="{FF2B5EF4-FFF2-40B4-BE49-F238E27FC236}">
                <a16:creationId xmlns:a16="http://schemas.microsoft.com/office/drawing/2014/main" id="{7A30BC0A-7240-3E01-69B3-021AC91C1C1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80BC913-6917-CCCA-B03C-110C854E8CBA}"/>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642301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D95A5-763E-FFED-1F20-A6327BCA74E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4DD6036-D4F3-8443-466F-760211D7DAB3}"/>
              </a:ext>
            </a:extLst>
          </p:cNvPr>
          <p:cNvSpPr>
            <a:spLocks noGrp="1"/>
          </p:cNvSpPr>
          <p:nvPr>
            <p:ph type="dt" sz="half" idx="10"/>
          </p:nvPr>
        </p:nvSpPr>
        <p:spPr/>
        <p:txBody>
          <a:bodyPr/>
          <a:lstStyle/>
          <a:p>
            <a:fld id="{33542B4E-5BE1-4ACD-80CC-F7FD71452860}" type="datetime1">
              <a:rPr lang="en-GB" smtClean="0"/>
              <a:t>27/01/2025</a:t>
            </a:fld>
            <a:endParaRPr lang="en-GB"/>
          </a:p>
        </p:txBody>
      </p:sp>
      <p:sp>
        <p:nvSpPr>
          <p:cNvPr id="4" name="Footer Placeholder 3">
            <a:extLst>
              <a:ext uri="{FF2B5EF4-FFF2-40B4-BE49-F238E27FC236}">
                <a16:creationId xmlns:a16="http://schemas.microsoft.com/office/drawing/2014/main" id="{F46972C6-E3E4-DE49-C7E5-878ED06344E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8725A9C-F1F8-3DC3-3FEA-1288D90BCCED}"/>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3314738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DB7B98-1EDA-010A-B17E-01379E5E2404}"/>
              </a:ext>
            </a:extLst>
          </p:cNvPr>
          <p:cNvSpPr>
            <a:spLocks noGrp="1"/>
          </p:cNvSpPr>
          <p:nvPr>
            <p:ph type="dt" sz="half" idx="10"/>
          </p:nvPr>
        </p:nvSpPr>
        <p:spPr/>
        <p:txBody>
          <a:bodyPr/>
          <a:lstStyle/>
          <a:p>
            <a:fld id="{A8478DE8-4980-4EBE-9BCC-CB274F13072D}" type="datetime1">
              <a:rPr lang="en-GB" smtClean="0"/>
              <a:t>27/01/2025</a:t>
            </a:fld>
            <a:endParaRPr lang="en-GB"/>
          </a:p>
        </p:txBody>
      </p:sp>
      <p:sp>
        <p:nvSpPr>
          <p:cNvPr id="3" name="Footer Placeholder 2">
            <a:extLst>
              <a:ext uri="{FF2B5EF4-FFF2-40B4-BE49-F238E27FC236}">
                <a16:creationId xmlns:a16="http://schemas.microsoft.com/office/drawing/2014/main" id="{AFA3CCAF-EE8A-07E4-7B1E-F36BC12481E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881FCDF-E50C-8DCC-ED7C-14AF771F1D76}"/>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152985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159D5-330E-980F-64E6-04DA5E0A0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9DB92A-26F1-0471-552C-1C20370199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BA2A74E-C0FE-B3AC-1A04-0D0E90B9C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FE63A-6023-9C27-989C-E3ABBED51A7F}"/>
              </a:ext>
            </a:extLst>
          </p:cNvPr>
          <p:cNvSpPr>
            <a:spLocks noGrp="1"/>
          </p:cNvSpPr>
          <p:nvPr>
            <p:ph type="dt" sz="half" idx="10"/>
          </p:nvPr>
        </p:nvSpPr>
        <p:spPr/>
        <p:txBody>
          <a:bodyPr/>
          <a:lstStyle/>
          <a:p>
            <a:fld id="{5BC3DBFB-DB0B-427F-9B1F-F19A2C915C25}" type="datetime1">
              <a:rPr lang="en-GB" smtClean="0"/>
              <a:t>27/01/2025</a:t>
            </a:fld>
            <a:endParaRPr lang="en-GB"/>
          </a:p>
        </p:txBody>
      </p:sp>
      <p:sp>
        <p:nvSpPr>
          <p:cNvPr id="6" name="Footer Placeholder 5">
            <a:extLst>
              <a:ext uri="{FF2B5EF4-FFF2-40B4-BE49-F238E27FC236}">
                <a16:creationId xmlns:a16="http://schemas.microsoft.com/office/drawing/2014/main" id="{8AF481A4-D7AB-2F75-A96D-45DD7E54190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A595D0-98E1-5FF0-C465-6D90B9CC5E83}"/>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2275887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1C980-E39B-CBE3-9B6E-6A35260232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D195AA4-9BCE-E7DE-886C-16A53C85FA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CEABD5B-2786-37DC-4AF9-51DD41F52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3CEFF4-D94A-B5E8-CD66-07CD9D92AB0B}"/>
              </a:ext>
            </a:extLst>
          </p:cNvPr>
          <p:cNvSpPr>
            <a:spLocks noGrp="1"/>
          </p:cNvSpPr>
          <p:nvPr>
            <p:ph type="dt" sz="half" idx="10"/>
          </p:nvPr>
        </p:nvSpPr>
        <p:spPr/>
        <p:txBody>
          <a:bodyPr/>
          <a:lstStyle/>
          <a:p>
            <a:fld id="{B0637D82-4FC5-4B23-83FB-28AF06CDE80C}" type="datetime1">
              <a:rPr lang="en-GB" smtClean="0"/>
              <a:t>27/01/2025</a:t>
            </a:fld>
            <a:endParaRPr lang="en-GB"/>
          </a:p>
        </p:txBody>
      </p:sp>
      <p:sp>
        <p:nvSpPr>
          <p:cNvPr id="6" name="Footer Placeholder 5">
            <a:extLst>
              <a:ext uri="{FF2B5EF4-FFF2-40B4-BE49-F238E27FC236}">
                <a16:creationId xmlns:a16="http://schemas.microsoft.com/office/drawing/2014/main" id="{B90E9518-055D-76B7-A940-5508E57A97D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0B0E8E-5F60-E2CE-0B28-D2E80EAEFC9F}"/>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185196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C0AC-C683-FB89-C628-22FA2DCA50A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9AF5B3-DF2A-E613-59B4-C274A3857D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D8BF90-ABF3-7604-86D5-A1111EDE8C20}"/>
              </a:ext>
            </a:extLst>
          </p:cNvPr>
          <p:cNvSpPr>
            <a:spLocks noGrp="1"/>
          </p:cNvSpPr>
          <p:nvPr>
            <p:ph type="dt" sz="half" idx="10"/>
          </p:nvPr>
        </p:nvSpPr>
        <p:spPr/>
        <p:txBody>
          <a:bodyPr/>
          <a:lstStyle/>
          <a:p>
            <a:fld id="{D44D3BA2-8906-4605-8967-BBEBD92FD8E4}" type="datetime1">
              <a:rPr lang="en-GB" smtClean="0"/>
              <a:t>27/01/2025</a:t>
            </a:fld>
            <a:endParaRPr lang="en-GB"/>
          </a:p>
        </p:txBody>
      </p:sp>
      <p:sp>
        <p:nvSpPr>
          <p:cNvPr id="5" name="Footer Placeholder 4">
            <a:extLst>
              <a:ext uri="{FF2B5EF4-FFF2-40B4-BE49-F238E27FC236}">
                <a16:creationId xmlns:a16="http://schemas.microsoft.com/office/drawing/2014/main" id="{4B17FE70-2927-2799-7555-F4B854280E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3FBAE09-2696-8DC3-AEDF-F60CC04A24CF}"/>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3393140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462A40-F6D1-1D83-62FC-110D0E7768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097917-3CF8-1207-1DD4-33FDDD8FD0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B584B7-80B7-CA3C-3A02-CA992B542CA2}"/>
              </a:ext>
            </a:extLst>
          </p:cNvPr>
          <p:cNvSpPr>
            <a:spLocks noGrp="1"/>
          </p:cNvSpPr>
          <p:nvPr>
            <p:ph type="dt" sz="half" idx="10"/>
          </p:nvPr>
        </p:nvSpPr>
        <p:spPr/>
        <p:txBody>
          <a:bodyPr/>
          <a:lstStyle/>
          <a:p>
            <a:fld id="{9121AF3D-32C8-4D8E-AEAF-5F426F4148E6}" type="datetime1">
              <a:rPr lang="en-GB" smtClean="0"/>
              <a:t>27/01/2025</a:t>
            </a:fld>
            <a:endParaRPr lang="en-GB"/>
          </a:p>
        </p:txBody>
      </p:sp>
      <p:sp>
        <p:nvSpPr>
          <p:cNvPr id="5" name="Footer Placeholder 4">
            <a:extLst>
              <a:ext uri="{FF2B5EF4-FFF2-40B4-BE49-F238E27FC236}">
                <a16:creationId xmlns:a16="http://schemas.microsoft.com/office/drawing/2014/main" id="{A6399391-80E9-0FB3-E0D9-5A7EF0537F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76C259-8BE7-1DB0-913F-98543964A8B0}"/>
              </a:ext>
            </a:extLst>
          </p:cNvPr>
          <p:cNvSpPr>
            <a:spLocks noGrp="1"/>
          </p:cNvSpPr>
          <p:nvPr>
            <p:ph type="sldNum" sz="quarter" idx="12"/>
          </p:nvPr>
        </p:nvSpPr>
        <p:spPr/>
        <p:txBody>
          <a:bodyPr/>
          <a:lstStyle/>
          <a:p>
            <a:fld id="{AA64B1FB-CC2F-4DD5-A068-EEAB847401EC}" type="slidenum">
              <a:rPr lang="en-GB" smtClean="0"/>
              <a:t>‹#›</a:t>
            </a:fld>
            <a:endParaRPr lang="en-GB"/>
          </a:p>
        </p:txBody>
      </p:sp>
    </p:spTree>
    <p:extLst>
      <p:ext uri="{BB962C8B-B14F-4D97-AF65-F5344CB8AC3E}">
        <p14:creationId xmlns:p14="http://schemas.microsoft.com/office/powerpoint/2010/main" val="2596927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Contents slide layout">
    <p:spTree>
      <p:nvGrpSpPr>
        <p:cNvPr id="1" name=""/>
        <p:cNvGrpSpPr/>
        <p:nvPr/>
      </p:nvGrpSpPr>
      <p:grpSpPr>
        <a:xfrm>
          <a:off x="0" y="0"/>
          <a:ext cx="0" cy="0"/>
          <a:chOff x="0" y="0"/>
          <a:chExt cx="0" cy="0"/>
        </a:xfrm>
      </p:grpSpPr>
      <p:sp>
        <p:nvSpPr>
          <p:cNvPr id="2" name="그림 개체 틀 11">
            <a:extLst>
              <a:ext uri="{FF2B5EF4-FFF2-40B4-BE49-F238E27FC236}">
                <a16:creationId xmlns:a16="http://schemas.microsoft.com/office/drawing/2014/main" id="{D77B7FC8-EA9E-453C-85BF-3311D727E8EF}"/>
              </a:ext>
            </a:extLst>
          </p:cNvPr>
          <p:cNvSpPr>
            <a:spLocks noGrp="1"/>
          </p:cNvSpPr>
          <p:nvPr>
            <p:ph type="pic" sz="quarter" idx="10" hasCustomPrompt="1"/>
          </p:nvPr>
        </p:nvSpPr>
        <p:spPr>
          <a:xfrm>
            <a:off x="3" y="0"/>
            <a:ext cx="7896225" cy="6858000"/>
          </a:xfrm>
          <a:custGeom>
            <a:avLst/>
            <a:gdLst>
              <a:gd name="connsiteX0" fmla="*/ 6193612 w 7896225"/>
              <a:gd name="connsiteY0" fmla="*/ 0 h 6858000"/>
              <a:gd name="connsiteX1" fmla="*/ 7896225 w 7896225"/>
              <a:gd name="connsiteY1" fmla="*/ 0 h 6858000"/>
              <a:gd name="connsiteX2" fmla="*/ 4598214 w 7896225"/>
              <a:gd name="connsiteY2" fmla="*/ 6858000 h 6858000"/>
              <a:gd name="connsiteX3" fmla="*/ 2895600 w 7896225"/>
              <a:gd name="connsiteY3" fmla="*/ 6858000 h 6858000"/>
              <a:gd name="connsiteX4" fmla="*/ 4383861 w 7896225"/>
              <a:gd name="connsiteY4" fmla="*/ 0 h 6858000"/>
              <a:gd name="connsiteX5" fmla="*/ 6086474 w 7896225"/>
              <a:gd name="connsiteY5" fmla="*/ 0 h 6858000"/>
              <a:gd name="connsiteX6" fmla="*/ 2788462 w 7896225"/>
              <a:gd name="connsiteY6" fmla="*/ 6858000 h 6858000"/>
              <a:gd name="connsiteX7" fmla="*/ 1085849 w 7896225"/>
              <a:gd name="connsiteY7" fmla="*/ 6858000 h 6858000"/>
              <a:gd name="connsiteX8" fmla="*/ 2574110 w 7896225"/>
              <a:gd name="connsiteY8" fmla="*/ 0 h 6858000"/>
              <a:gd name="connsiteX9" fmla="*/ 4276723 w 7896225"/>
              <a:gd name="connsiteY9" fmla="*/ 0 h 6858000"/>
              <a:gd name="connsiteX10" fmla="*/ 978711 w 7896225"/>
              <a:gd name="connsiteY10" fmla="*/ 6858000 h 6858000"/>
              <a:gd name="connsiteX11" fmla="*/ 0 w 7896225"/>
              <a:gd name="connsiteY11" fmla="*/ 6858000 h 6858000"/>
              <a:gd name="connsiteX12" fmla="*/ 0 w 7896225"/>
              <a:gd name="connsiteY12" fmla="*/ 5352694 h 6858000"/>
              <a:gd name="connsiteX13" fmla="*/ 764359 w 7896225"/>
              <a:gd name="connsiteY13" fmla="*/ 0 h 6858000"/>
              <a:gd name="connsiteX14" fmla="*/ 2466972 w 7896225"/>
              <a:gd name="connsiteY14" fmla="*/ 0 h 6858000"/>
              <a:gd name="connsiteX15" fmla="*/ 0 w 7896225"/>
              <a:gd name="connsiteY15" fmla="*/ 5129907 h 6858000"/>
              <a:gd name="connsiteX16" fmla="*/ 0 w 7896225"/>
              <a:gd name="connsiteY16" fmla="*/ 15894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896225" h="6858000">
                <a:moveTo>
                  <a:pt x="6193612" y="0"/>
                </a:moveTo>
                <a:lnTo>
                  <a:pt x="7896225" y="0"/>
                </a:lnTo>
                <a:lnTo>
                  <a:pt x="4598214" y="6858000"/>
                </a:lnTo>
                <a:lnTo>
                  <a:pt x="2895600" y="6858000"/>
                </a:lnTo>
                <a:close/>
                <a:moveTo>
                  <a:pt x="4383861" y="0"/>
                </a:moveTo>
                <a:lnTo>
                  <a:pt x="6086474" y="0"/>
                </a:lnTo>
                <a:lnTo>
                  <a:pt x="2788462" y="6858000"/>
                </a:lnTo>
                <a:lnTo>
                  <a:pt x="1085849" y="6858000"/>
                </a:lnTo>
                <a:close/>
                <a:moveTo>
                  <a:pt x="2574110" y="0"/>
                </a:moveTo>
                <a:lnTo>
                  <a:pt x="4276723" y="0"/>
                </a:lnTo>
                <a:lnTo>
                  <a:pt x="978711" y="6858000"/>
                </a:lnTo>
                <a:lnTo>
                  <a:pt x="0" y="6858000"/>
                </a:lnTo>
                <a:lnTo>
                  <a:pt x="0" y="5352694"/>
                </a:lnTo>
                <a:close/>
                <a:moveTo>
                  <a:pt x="764359" y="0"/>
                </a:moveTo>
                <a:lnTo>
                  <a:pt x="2466972" y="0"/>
                </a:lnTo>
                <a:lnTo>
                  <a:pt x="0" y="5129907"/>
                </a:lnTo>
                <a:lnTo>
                  <a:pt x="0" y="1589435"/>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Tree>
    <p:extLst>
      <p:ext uri="{BB962C8B-B14F-4D97-AF65-F5344CB8AC3E}">
        <p14:creationId xmlns:p14="http://schemas.microsoft.com/office/powerpoint/2010/main" val="2681114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64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165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AAE7B1-5A90-BB68-EF41-0DCEC5F427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608EBDB-0784-3191-CD22-A1BD8A24F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7EBE5A-7F3E-8EB4-960C-50C8C98A06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59F33F-0F9D-46B7-9BF0-170E88E249DE}" type="datetime1">
              <a:rPr lang="en-GB" smtClean="0"/>
              <a:t>27/01/2025</a:t>
            </a:fld>
            <a:endParaRPr lang="en-GB"/>
          </a:p>
        </p:txBody>
      </p:sp>
      <p:sp>
        <p:nvSpPr>
          <p:cNvPr id="5" name="Footer Placeholder 4">
            <a:extLst>
              <a:ext uri="{FF2B5EF4-FFF2-40B4-BE49-F238E27FC236}">
                <a16:creationId xmlns:a16="http://schemas.microsoft.com/office/drawing/2014/main" id="{DD152C44-EC57-B476-1E27-F0A251D08A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B79AA01-AC3D-9900-46AE-2916147D15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64B1FB-CC2F-4DD5-A068-EEAB847401EC}" type="slidenum">
              <a:rPr lang="en-GB" smtClean="0"/>
              <a:t>‹#›</a:t>
            </a:fld>
            <a:endParaRPr lang="en-GB"/>
          </a:p>
        </p:txBody>
      </p:sp>
    </p:spTree>
    <p:extLst>
      <p:ext uri="{BB962C8B-B14F-4D97-AF65-F5344CB8AC3E}">
        <p14:creationId xmlns:p14="http://schemas.microsoft.com/office/powerpoint/2010/main" val="1306288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9A02-4668-9306-9129-DB0EEF197C76}"/>
              </a:ext>
            </a:extLst>
          </p:cNvPr>
          <p:cNvSpPr>
            <a:spLocks noGrp="1"/>
          </p:cNvSpPr>
          <p:nvPr>
            <p:ph type="ctrTitle"/>
          </p:nvPr>
        </p:nvSpPr>
        <p:spPr>
          <a:xfrm>
            <a:off x="395656" y="2517700"/>
            <a:ext cx="5547946" cy="945590"/>
          </a:xfrm>
        </p:spPr>
        <p:txBody>
          <a:bodyPr>
            <a:noAutofit/>
          </a:bodyPr>
          <a:lstStyle/>
          <a:p>
            <a:pPr algn="l"/>
            <a:r>
              <a:rPr lang="en-GB" sz="4000" b="1" dirty="0">
                <a:solidFill>
                  <a:schemeClr val="tx1">
                    <a:lumMod val="95000"/>
                    <a:lumOff val="5000"/>
                  </a:schemeClr>
                </a:solidFill>
                <a:latin typeface="Helvetica Neue"/>
              </a:rPr>
              <a:t>Course Overview</a:t>
            </a:r>
          </a:p>
        </p:txBody>
      </p:sp>
      <p:sp>
        <p:nvSpPr>
          <p:cNvPr id="4" name="TextBox 3">
            <a:extLst>
              <a:ext uri="{FF2B5EF4-FFF2-40B4-BE49-F238E27FC236}">
                <a16:creationId xmlns:a16="http://schemas.microsoft.com/office/drawing/2014/main" id="{A1556064-3FC7-AD3C-0F3E-FA534F9A7003}"/>
              </a:ext>
            </a:extLst>
          </p:cNvPr>
          <p:cNvSpPr txBox="1"/>
          <p:nvPr/>
        </p:nvSpPr>
        <p:spPr>
          <a:xfrm>
            <a:off x="457200" y="3577590"/>
            <a:ext cx="4617720" cy="677108"/>
          </a:xfrm>
          <a:prstGeom prst="rect">
            <a:avLst/>
          </a:prstGeom>
          <a:noFill/>
        </p:spPr>
        <p:txBody>
          <a:bodyPr wrap="square" rtlCol="0">
            <a:spAutoFit/>
          </a:bodyPr>
          <a:lstStyle/>
          <a:p>
            <a:pPr algn="just"/>
            <a:r>
              <a:rPr lang="en-GB" sz="2000" dirty="0">
                <a:solidFill>
                  <a:schemeClr val="bg2">
                    <a:lumMod val="50000"/>
                  </a:schemeClr>
                </a:solidFill>
                <a:latin typeface="Helvetica Neue"/>
              </a:rPr>
              <a:t>Artificial Intelligence Introduction</a:t>
            </a:r>
            <a:endParaRPr lang="en-GB" sz="2000" b="0" i="0" dirty="0">
              <a:solidFill>
                <a:schemeClr val="bg2">
                  <a:lumMod val="50000"/>
                </a:schemeClr>
              </a:solidFill>
              <a:effectLst/>
              <a:latin typeface="Helvetica Neue"/>
            </a:endParaRPr>
          </a:p>
          <a:p>
            <a:pPr algn="just"/>
            <a:endParaRPr lang="en-GB" sz="600" b="0" i="0" dirty="0">
              <a:solidFill>
                <a:schemeClr val="bg2">
                  <a:lumMod val="50000"/>
                </a:schemeClr>
              </a:solidFill>
              <a:effectLst/>
              <a:latin typeface="Helvetica Neue"/>
            </a:endParaRPr>
          </a:p>
          <a:p>
            <a:pPr algn="just"/>
            <a:r>
              <a:rPr lang="en-GB" sz="1200" dirty="0">
                <a:solidFill>
                  <a:schemeClr val="bg2">
                    <a:lumMod val="50000"/>
                  </a:schemeClr>
                </a:solidFill>
                <a:latin typeface="Helvetica Neue"/>
              </a:rPr>
              <a:t> Presented by : Mohamed Aziz ben Haha</a:t>
            </a:r>
            <a:endParaRPr lang="en-GB" sz="1200" dirty="0">
              <a:solidFill>
                <a:schemeClr val="bg2">
                  <a:lumMod val="50000"/>
                </a:schemeClr>
              </a:solidFill>
            </a:endParaRPr>
          </a:p>
        </p:txBody>
      </p:sp>
      <p:pic>
        <p:nvPicPr>
          <p:cNvPr id="6" name="Picture 5">
            <a:extLst>
              <a:ext uri="{FF2B5EF4-FFF2-40B4-BE49-F238E27FC236}">
                <a16:creationId xmlns:a16="http://schemas.microsoft.com/office/drawing/2014/main" id="{1C4C5791-6C4C-B59B-4932-22F6B8618C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6380430"/>
            <a:ext cx="451828" cy="356624"/>
          </a:xfrm>
          <a:prstGeom prst="rect">
            <a:avLst/>
          </a:prstGeom>
        </p:spPr>
      </p:pic>
      <p:pic>
        <p:nvPicPr>
          <p:cNvPr id="1026" name="Picture 2" descr="Robot PNG Transparent Images Free Download | Vector Files | Pngtree">
            <a:extLst>
              <a:ext uri="{FF2B5EF4-FFF2-40B4-BE49-F238E27FC236}">
                <a16:creationId xmlns:a16="http://schemas.microsoft.com/office/drawing/2014/main" id="{F4356FDE-B83A-9435-14E7-9FE11A3E4E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8250">
            <a:off x="5366465" y="792927"/>
            <a:ext cx="1154273" cy="11542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NSTAB">
            <a:extLst>
              <a:ext uri="{FF2B5EF4-FFF2-40B4-BE49-F238E27FC236}">
                <a16:creationId xmlns:a16="http://schemas.microsoft.com/office/drawing/2014/main" id="{A32B6BDF-683B-1F33-2984-9311341FF6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5454" y="6349901"/>
            <a:ext cx="1497621" cy="387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331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E10FB99-1E92-4674-89F6-0F474607F250}"/>
              </a:ext>
            </a:extLst>
          </p:cNvPr>
          <p:cNvSpPr txBox="1">
            <a:spLocks/>
          </p:cNvSpPr>
          <p:nvPr/>
        </p:nvSpPr>
        <p:spPr>
          <a:xfrm>
            <a:off x="6932613" y="951960"/>
            <a:ext cx="4951655" cy="1077943"/>
          </a:xfrm>
          <a:prstGeom prst="rect">
            <a:avLst/>
          </a:prstGeom>
        </p:spPr>
        <p:txBody>
          <a:bodyPr anchor="ctr">
            <a:noAutofit/>
          </a:bodyPr>
          <a:lstStyle>
            <a:lvl1pPr algn="l" defTabSz="914400" rtl="0" eaLnBrk="1" latinLnBrk="1" hangingPunct="1">
              <a:spcBef>
                <a:spcPct val="0"/>
              </a:spcBef>
              <a:buNone/>
              <a:defRPr sz="3600" b="0" kern="1200" baseline="0">
                <a:solidFill>
                  <a:schemeClr val="tx1">
                    <a:lumMod val="75000"/>
                    <a:lumOff val="25000"/>
                  </a:schemeClr>
                </a:solidFill>
                <a:latin typeface="+mj-lt"/>
                <a:ea typeface="+mj-ea"/>
                <a:cs typeface="Arial" pitchFamily="34" charset="0"/>
              </a:defRPr>
            </a:lvl1pPr>
          </a:lstStyle>
          <a:p>
            <a:pPr algn="r"/>
            <a:r>
              <a:rPr lang="en-US" altLang="ko-KR" sz="2400" b="1" dirty="0"/>
              <a:t>Cloud computing </a:t>
            </a:r>
            <a:r>
              <a:rPr lang="en-US" altLang="ko-KR" sz="2000" b="1" dirty="0">
                <a:solidFill>
                  <a:schemeClr val="accent5">
                    <a:lumMod val="75000"/>
                  </a:schemeClr>
                </a:solidFill>
                <a:latin typeface="Helvetica Neue"/>
              </a:rPr>
              <a:t>Engineer</a:t>
            </a:r>
          </a:p>
          <a:p>
            <a:pPr algn="r"/>
            <a:r>
              <a:rPr lang="en-US" altLang="ko-KR" sz="2000" b="1" dirty="0"/>
              <a:t>Cloud</a:t>
            </a:r>
            <a:r>
              <a:rPr lang="en-GB" altLang="ko-KR" sz="2400" b="1" dirty="0"/>
              <a:t> computing and AI </a:t>
            </a:r>
            <a:r>
              <a:rPr lang="en-US" altLang="ko-KR" sz="2000" b="1" dirty="0" err="1">
                <a:solidFill>
                  <a:schemeClr val="accent5">
                    <a:lumMod val="75000"/>
                  </a:schemeClr>
                </a:solidFill>
                <a:latin typeface="Helvetica Neue"/>
              </a:rPr>
              <a:t>EngD</a:t>
            </a:r>
            <a:r>
              <a:rPr lang="en-US" altLang="ko-KR" sz="2000" b="1" dirty="0">
                <a:solidFill>
                  <a:schemeClr val="accent5">
                    <a:lumMod val="75000"/>
                  </a:schemeClr>
                </a:solidFill>
                <a:latin typeface="Helvetica Neue"/>
              </a:rPr>
              <a:t>. Student</a:t>
            </a:r>
            <a:endParaRPr lang="ko-KR" altLang="en-US" sz="2000" dirty="0">
              <a:solidFill>
                <a:schemeClr val="accent5">
                  <a:lumMod val="75000"/>
                </a:schemeClr>
              </a:solidFill>
            </a:endParaRPr>
          </a:p>
          <a:p>
            <a:pPr algn="r"/>
            <a:endParaRPr lang="ko-KR" altLang="en-US" sz="2400" dirty="0">
              <a:solidFill>
                <a:schemeClr val="accent5">
                  <a:lumMod val="75000"/>
                </a:schemeClr>
              </a:solidFill>
            </a:endParaRPr>
          </a:p>
        </p:txBody>
      </p:sp>
      <p:sp>
        <p:nvSpPr>
          <p:cNvPr id="4" name="직사각형 5">
            <a:extLst>
              <a:ext uri="{FF2B5EF4-FFF2-40B4-BE49-F238E27FC236}">
                <a16:creationId xmlns:a16="http://schemas.microsoft.com/office/drawing/2014/main" id="{DD91454E-8E0C-45EF-BCD5-912C946B0F50}"/>
              </a:ext>
            </a:extLst>
          </p:cNvPr>
          <p:cNvSpPr/>
          <p:nvPr/>
        </p:nvSpPr>
        <p:spPr>
          <a:xfrm>
            <a:off x="7372351" y="2001328"/>
            <a:ext cx="4511918" cy="3493264"/>
          </a:xfrm>
          <a:prstGeom prst="rect">
            <a:avLst/>
          </a:prstGeom>
        </p:spPr>
        <p:txBody>
          <a:bodyPr wrap="square">
            <a:spAutoFit/>
          </a:bodyPr>
          <a:lstStyle/>
          <a:p>
            <a:pPr algn="r"/>
            <a:r>
              <a:rPr lang="en-GB" sz="1300" dirty="0">
                <a:solidFill>
                  <a:schemeClr val="tx1">
                    <a:lumMod val="95000"/>
                    <a:lumOff val="5000"/>
                  </a:schemeClr>
                </a:solidFill>
                <a:latin typeface="Söhne"/>
              </a:rPr>
              <a:t>As an engineer at Pass Consulting, I bring extensive expertise in cloud technologies and DevOps. Currently pursuing my doctorate in Cloud Computing with a focus on AI and blockchain integration, I combine cutting-edge academic research with hands-on industry experience.</a:t>
            </a:r>
          </a:p>
          <a:p>
            <a:pPr algn="r"/>
            <a:r>
              <a:rPr lang="en-GB" sz="1300" dirty="0">
                <a:solidFill>
                  <a:schemeClr val="tx1">
                    <a:lumMod val="95000"/>
                    <a:lumOff val="5000"/>
                  </a:schemeClr>
                </a:solidFill>
                <a:latin typeface="Söhne"/>
              </a:rPr>
              <a:t>My professional journey includes valuable teaching experience as a former instructor at TED University and professional trainer at </a:t>
            </a:r>
            <a:r>
              <a:rPr lang="en-GB" sz="1300" dirty="0" err="1">
                <a:solidFill>
                  <a:schemeClr val="tx1">
                    <a:lumMod val="95000"/>
                    <a:lumOff val="5000"/>
                  </a:schemeClr>
                </a:solidFill>
                <a:latin typeface="Söhne"/>
              </a:rPr>
              <a:t>Clevory</a:t>
            </a:r>
            <a:r>
              <a:rPr lang="en-GB" sz="1300" dirty="0">
                <a:solidFill>
                  <a:schemeClr val="tx1">
                    <a:lumMod val="95000"/>
                    <a:lumOff val="5000"/>
                  </a:schemeClr>
                </a:solidFill>
                <a:latin typeface="Söhne"/>
              </a:rPr>
              <a:t> Training, where I helped develop the next generation of IT professionals. This blend of academic research and practical industry experience allows me to bridge theoretical concepts with real-world applications.</a:t>
            </a:r>
          </a:p>
          <a:p>
            <a:pPr algn="r"/>
            <a:r>
              <a:rPr lang="en-GB" sz="1300" dirty="0">
                <a:solidFill>
                  <a:schemeClr val="tx1">
                    <a:lumMod val="95000"/>
                    <a:lumOff val="5000"/>
                  </a:schemeClr>
                </a:solidFill>
                <a:latin typeface="Söhne"/>
              </a:rPr>
              <a:t>With a deep commitment to emerging technologies, I specialize in designing and implementing cloud-native solutions while exploring the transformative potential of AI in modern computing infrastructure. My research and professional work focus on advancing the intersection of cloud computing, artificial intelligence, and distributed systems.</a:t>
            </a:r>
            <a:endParaRPr lang="ko-KR" altLang="en-US" sz="1300" dirty="0">
              <a:solidFill>
                <a:schemeClr val="tx1">
                  <a:lumMod val="95000"/>
                  <a:lumOff val="5000"/>
                </a:schemeClr>
              </a:solidFill>
              <a:cs typeface="Arial" pitchFamily="34" charset="0"/>
            </a:endParaRPr>
          </a:p>
        </p:txBody>
      </p:sp>
      <p:pic>
        <p:nvPicPr>
          <p:cNvPr id="7" name="Picture Placeholder 6">
            <a:extLst>
              <a:ext uri="{FF2B5EF4-FFF2-40B4-BE49-F238E27FC236}">
                <a16:creationId xmlns:a16="http://schemas.microsoft.com/office/drawing/2014/main" id="{5DB7BBDE-36B2-9002-62D6-0CC22F57CD24}"/>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438" b="6438"/>
          <a:stretch>
            <a:fillRect/>
          </a:stretch>
        </p:blipFill>
        <p:spPr>
          <a:xfrm>
            <a:off x="-1039813" y="0"/>
            <a:ext cx="7896226" cy="6858000"/>
          </a:xfrm>
          <a:prstGeom prst="parallelogram">
            <a:avLst>
              <a:gd name="adj" fmla="val 25256"/>
            </a:avLst>
          </a:prstGeom>
        </p:spPr>
      </p:pic>
      <p:pic>
        <p:nvPicPr>
          <p:cNvPr id="5122" name="Picture 2" descr="Esprit (@Esprit_News) / X">
            <a:extLst>
              <a:ext uri="{FF2B5EF4-FFF2-40B4-BE49-F238E27FC236}">
                <a16:creationId xmlns:a16="http://schemas.microsoft.com/office/drawing/2014/main" id="{DB650DAA-DA5E-A811-69ED-8E8B4239D8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38" t="33616" r="11769" b="33846"/>
          <a:stretch/>
        </p:blipFill>
        <p:spPr bwMode="auto">
          <a:xfrm>
            <a:off x="5980404" y="6208171"/>
            <a:ext cx="1070234" cy="46007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49E492B9-BEC8-ECA1-CA13-D46846DF5C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3406" y="6198011"/>
            <a:ext cx="964662" cy="46007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dentification">
            <a:extLst>
              <a:ext uri="{FF2B5EF4-FFF2-40B4-BE49-F238E27FC236}">
                <a16:creationId xmlns:a16="http://schemas.microsoft.com/office/drawing/2014/main" id="{50EC4898-C6B9-AF6B-66C2-5C92A2786C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30942" y="6198011"/>
            <a:ext cx="1109717" cy="46007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Fiche entreprise: CLEVORY TRAINING - Keejob">
            <a:extLst>
              <a:ext uri="{FF2B5EF4-FFF2-40B4-BE49-F238E27FC236}">
                <a16:creationId xmlns:a16="http://schemas.microsoft.com/office/drawing/2014/main" id="{44DF44EE-60D4-FDD8-DB3A-1F4BB7E2C7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50609" y="6043650"/>
            <a:ext cx="1299926" cy="758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993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00" name="Picture 4" descr="Thaiware | ชาว Windows เลือกใช้ Virtual Machine ตัวไหนดี&quot; ระหว่าง  VirtualBox, VMWare และ Hyper-V">
            <a:extLst>
              <a:ext uri="{FF2B5EF4-FFF2-40B4-BE49-F238E27FC236}">
                <a16:creationId xmlns:a16="http://schemas.microsoft.com/office/drawing/2014/main" id="{CCBE00EE-66A0-0383-B0EA-81D25E5806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35" r="10241"/>
          <a:stretch/>
        </p:blipFill>
        <p:spPr bwMode="auto">
          <a:xfrm>
            <a:off x="575408" y="1467813"/>
            <a:ext cx="4355068" cy="455036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6F556014-99F2-413F-BA74-B604762B66FA}"/>
              </a:ext>
            </a:extLst>
          </p:cNvPr>
          <p:cNvGrpSpPr/>
          <p:nvPr/>
        </p:nvGrpSpPr>
        <p:grpSpPr>
          <a:xfrm flipV="1">
            <a:off x="5358002" y="944884"/>
            <a:ext cx="6182761" cy="5205223"/>
            <a:chOff x="4855613" y="2019962"/>
            <a:chExt cx="6687522" cy="3864548"/>
          </a:xfrm>
        </p:grpSpPr>
        <p:cxnSp>
          <p:nvCxnSpPr>
            <p:cNvPr id="12" name="Straight Connector 11">
              <a:extLst>
                <a:ext uri="{FF2B5EF4-FFF2-40B4-BE49-F238E27FC236}">
                  <a16:creationId xmlns:a16="http://schemas.microsoft.com/office/drawing/2014/main" id="{BD014B18-BA7E-475C-B97A-1C458E8F3644}"/>
                </a:ext>
              </a:extLst>
            </p:cNvPr>
            <p:cNvCxnSpPr>
              <a:cxnSpLocks/>
            </p:cNvCxnSpPr>
            <p:nvPr/>
          </p:nvCxnSpPr>
          <p:spPr>
            <a:xfrm flipV="1">
              <a:off x="5611920" y="2019962"/>
              <a:ext cx="0" cy="3500783"/>
            </a:xfrm>
            <a:prstGeom prst="line">
              <a:avLst/>
            </a:prstGeom>
            <a:ln w="19050">
              <a:solidFill>
                <a:schemeClr val="accent5">
                  <a:lumMod val="75000"/>
                </a:schemeClr>
              </a:solidFill>
            </a:ln>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659A2D06-9F89-464F-98C2-9BABA2CE2E15}"/>
                </a:ext>
              </a:extLst>
            </p:cNvPr>
            <p:cNvCxnSpPr>
              <a:cxnSpLocks/>
            </p:cNvCxnSpPr>
            <p:nvPr/>
          </p:nvCxnSpPr>
          <p:spPr>
            <a:xfrm flipH="1" flipV="1">
              <a:off x="5611920" y="2019962"/>
              <a:ext cx="5931187" cy="17573"/>
            </a:xfrm>
            <a:prstGeom prst="line">
              <a:avLst/>
            </a:prstGeom>
            <a:ln w="19050">
              <a:solidFill>
                <a:schemeClr val="accent5">
                  <a:lumMod val="75000"/>
                </a:schemeClr>
              </a:solidFill>
            </a:ln>
          </p:spPr>
          <p:style>
            <a:lnRef idx="1">
              <a:schemeClr val="accent6"/>
            </a:lnRef>
            <a:fillRef idx="0">
              <a:schemeClr val="accent6"/>
            </a:fillRef>
            <a:effectRef idx="0">
              <a:schemeClr val="accent6"/>
            </a:effectRef>
            <a:fontRef idx="minor">
              <a:schemeClr val="tx1"/>
            </a:fontRef>
          </p:style>
        </p:cxnSp>
        <p:cxnSp>
          <p:nvCxnSpPr>
            <p:cNvPr id="14" name="Straight Connector 13">
              <a:extLst>
                <a:ext uri="{FF2B5EF4-FFF2-40B4-BE49-F238E27FC236}">
                  <a16:creationId xmlns:a16="http://schemas.microsoft.com/office/drawing/2014/main" id="{7256552C-DCF3-4A68-B9A4-645E85E698BF}"/>
                </a:ext>
              </a:extLst>
            </p:cNvPr>
            <p:cNvCxnSpPr>
              <a:cxnSpLocks/>
            </p:cNvCxnSpPr>
            <p:nvPr/>
          </p:nvCxnSpPr>
          <p:spPr>
            <a:xfrm flipV="1">
              <a:off x="11543107" y="2037535"/>
              <a:ext cx="0" cy="3833702"/>
            </a:xfrm>
            <a:prstGeom prst="line">
              <a:avLst/>
            </a:prstGeom>
            <a:ln w="19050">
              <a:solidFill>
                <a:schemeClr val="accent5">
                  <a:lumMod val="75000"/>
                </a:schemeClr>
              </a:solidFill>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19EDD73A-0B0E-4B3D-BB0A-254E6E118D5A}"/>
                </a:ext>
              </a:extLst>
            </p:cNvPr>
            <p:cNvCxnSpPr>
              <a:cxnSpLocks/>
            </p:cNvCxnSpPr>
            <p:nvPr/>
          </p:nvCxnSpPr>
          <p:spPr>
            <a:xfrm flipH="1">
              <a:off x="4855613" y="5871237"/>
              <a:ext cx="6687522" cy="13273"/>
            </a:xfrm>
            <a:prstGeom prst="line">
              <a:avLst/>
            </a:prstGeom>
            <a:ln w="19050">
              <a:solidFill>
                <a:schemeClr val="accent5">
                  <a:lumMod val="75000"/>
                </a:schemeClr>
              </a:solidFill>
            </a:ln>
          </p:spPr>
          <p:style>
            <a:lnRef idx="1">
              <a:schemeClr val="accent6"/>
            </a:lnRef>
            <a:fillRef idx="0">
              <a:schemeClr val="accent6"/>
            </a:fillRef>
            <a:effectRef idx="0">
              <a:schemeClr val="accent6"/>
            </a:effectRef>
            <a:fontRef idx="minor">
              <a:schemeClr val="tx1"/>
            </a:fontRef>
          </p:style>
        </p:cxnSp>
      </p:grpSp>
      <p:sp>
        <p:nvSpPr>
          <p:cNvPr id="17" name="Rectangle: Rounded Corners 16">
            <a:extLst>
              <a:ext uri="{FF2B5EF4-FFF2-40B4-BE49-F238E27FC236}">
                <a16:creationId xmlns:a16="http://schemas.microsoft.com/office/drawing/2014/main" id="{EC13879F-D3DB-463F-BF1F-003E841B15E9}"/>
              </a:ext>
            </a:extLst>
          </p:cNvPr>
          <p:cNvSpPr/>
          <p:nvPr/>
        </p:nvSpPr>
        <p:spPr>
          <a:xfrm>
            <a:off x="5797855" y="1700498"/>
            <a:ext cx="484039" cy="484039"/>
          </a:xfrm>
          <a:prstGeom prst="round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1" name="TextBox 20">
            <a:extLst>
              <a:ext uri="{FF2B5EF4-FFF2-40B4-BE49-F238E27FC236}">
                <a16:creationId xmlns:a16="http://schemas.microsoft.com/office/drawing/2014/main" id="{7D323EF9-0205-4F9F-B8A5-5E090FAAA34A}"/>
              </a:ext>
            </a:extLst>
          </p:cNvPr>
          <p:cNvSpPr txBox="1"/>
          <p:nvPr/>
        </p:nvSpPr>
        <p:spPr>
          <a:xfrm>
            <a:off x="5797855" y="1748065"/>
            <a:ext cx="484038" cy="400110"/>
          </a:xfrm>
          <a:prstGeom prst="rect">
            <a:avLst/>
          </a:prstGeom>
          <a:no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01</a:t>
            </a:r>
            <a:endParaRPr lang="ko-KR" altLang="en-US" sz="2000" b="1" dirty="0">
              <a:solidFill>
                <a:schemeClr val="tx1">
                  <a:lumMod val="95000"/>
                  <a:lumOff val="5000"/>
                </a:schemeClr>
              </a:solidFill>
              <a:cs typeface="Arial" pitchFamily="34" charset="0"/>
            </a:endParaRPr>
          </a:p>
        </p:txBody>
      </p:sp>
      <p:sp>
        <p:nvSpPr>
          <p:cNvPr id="26" name="TextBox 25">
            <a:extLst>
              <a:ext uri="{FF2B5EF4-FFF2-40B4-BE49-F238E27FC236}">
                <a16:creationId xmlns:a16="http://schemas.microsoft.com/office/drawing/2014/main" id="{84237A53-2FA2-41CA-A145-17EF09ABAB64}"/>
              </a:ext>
            </a:extLst>
          </p:cNvPr>
          <p:cNvSpPr txBox="1"/>
          <p:nvPr/>
        </p:nvSpPr>
        <p:spPr>
          <a:xfrm>
            <a:off x="6613031" y="1633683"/>
            <a:ext cx="4215700" cy="461665"/>
          </a:xfrm>
          <a:prstGeom prst="rect">
            <a:avLst/>
          </a:prstGeom>
          <a:noFill/>
        </p:spPr>
        <p:txBody>
          <a:bodyPr wrap="square" lIns="108000" rIns="108000" rtlCol="0">
            <a:spAutoFit/>
          </a:bodyPr>
          <a:lstStyle/>
          <a:p>
            <a:pPr marL="0" indent="0">
              <a:buNone/>
            </a:pPr>
            <a:r>
              <a:rPr lang="en-GB" sz="2400" b="1" dirty="0">
                <a:solidFill>
                  <a:srgbClr val="333333"/>
                </a:solidFill>
                <a:latin typeface="Helvetica Neue"/>
              </a:rPr>
              <a:t>Learning Objectives</a:t>
            </a:r>
          </a:p>
        </p:txBody>
      </p:sp>
      <p:sp>
        <p:nvSpPr>
          <p:cNvPr id="36" name="Oval 35">
            <a:extLst>
              <a:ext uri="{FF2B5EF4-FFF2-40B4-BE49-F238E27FC236}">
                <a16:creationId xmlns:a16="http://schemas.microsoft.com/office/drawing/2014/main" id="{CD4E8CE7-5D30-4C46-BFB0-3CFC42311CA8}"/>
              </a:ext>
            </a:extLst>
          </p:cNvPr>
          <p:cNvSpPr/>
          <p:nvPr/>
        </p:nvSpPr>
        <p:spPr>
          <a:xfrm>
            <a:off x="3435923" y="1059628"/>
            <a:ext cx="111057" cy="111057"/>
          </a:xfrm>
          <a:prstGeom prst="ellipse">
            <a:avLst/>
          </a:prstGeom>
          <a:solidFill>
            <a:schemeClr val="bg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8FE060B-07C2-CB32-2221-0482CF4E051D}"/>
              </a:ext>
            </a:extLst>
          </p:cNvPr>
          <p:cNvSpPr txBox="1"/>
          <p:nvPr/>
        </p:nvSpPr>
        <p:spPr>
          <a:xfrm>
            <a:off x="6617897" y="3102844"/>
            <a:ext cx="4358240" cy="461665"/>
          </a:xfrm>
          <a:prstGeom prst="rect">
            <a:avLst/>
          </a:prstGeom>
          <a:noFill/>
        </p:spPr>
        <p:txBody>
          <a:bodyPr wrap="square" lIns="108000" rIns="108000" rtlCol="0">
            <a:spAutoFit/>
          </a:bodyPr>
          <a:lstStyle/>
          <a:p>
            <a:pPr marL="0" indent="0">
              <a:buNone/>
            </a:pPr>
            <a:r>
              <a:rPr lang="en-GB" sz="2400" b="1" dirty="0">
                <a:solidFill>
                  <a:srgbClr val="333333"/>
                </a:solidFill>
                <a:latin typeface="Helvetica Neue"/>
              </a:rPr>
              <a:t>Recommended background</a:t>
            </a:r>
          </a:p>
        </p:txBody>
      </p:sp>
      <p:sp>
        <p:nvSpPr>
          <p:cNvPr id="4" name="TextBox 3">
            <a:extLst>
              <a:ext uri="{FF2B5EF4-FFF2-40B4-BE49-F238E27FC236}">
                <a16:creationId xmlns:a16="http://schemas.microsoft.com/office/drawing/2014/main" id="{47B1905A-D151-44FD-053E-C983B20F92A3}"/>
              </a:ext>
            </a:extLst>
          </p:cNvPr>
          <p:cNvSpPr txBox="1"/>
          <p:nvPr/>
        </p:nvSpPr>
        <p:spPr>
          <a:xfrm>
            <a:off x="6581484" y="2367938"/>
            <a:ext cx="5433857" cy="461665"/>
          </a:xfrm>
          <a:prstGeom prst="rect">
            <a:avLst/>
          </a:prstGeom>
          <a:noFill/>
        </p:spPr>
        <p:txBody>
          <a:bodyPr wrap="square" lIns="108000" rIns="108000" rtlCol="0">
            <a:spAutoFit/>
          </a:bodyPr>
          <a:lstStyle/>
          <a:p>
            <a:pPr marL="0" indent="0">
              <a:buNone/>
            </a:pPr>
            <a:r>
              <a:rPr lang="en-GB" sz="2400" b="1" dirty="0">
                <a:solidFill>
                  <a:srgbClr val="333333"/>
                </a:solidFill>
                <a:latin typeface="Helvetica Neue"/>
              </a:rPr>
              <a:t>Topics Covered</a:t>
            </a:r>
            <a:r>
              <a:rPr lang="en-GB" sz="2400" b="1" spc="-275" dirty="0">
                <a:latin typeface="Helvetica Neue"/>
                <a:cs typeface="Calibri"/>
              </a:rPr>
              <a:t> </a:t>
            </a:r>
            <a:endParaRPr lang="en-GB" sz="2400" b="1" i="0" dirty="0">
              <a:solidFill>
                <a:srgbClr val="333333"/>
              </a:solidFill>
              <a:effectLst/>
              <a:latin typeface="Helvetica Neue"/>
            </a:endParaRPr>
          </a:p>
        </p:txBody>
      </p:sp>
      <p:sp>
        <p:nvSpPr>
          <p:cNvPr id="6" name="TextBox 5">
            <a:extLst>
              <a:ext uri="{FF2B5EF4-FFF2-40B4-BE49-F238E27FC236}">
                <a16:creationId xmlns:a16="http://schemas.microsoft.com/office/drawing/2014/main" id="{50467097-BC19-37B3-C0D0-CE1065B80B2E}"/>
              </a:ext>
            </a:extLst>
          </p:cNvPr>
          <p:cNvSpPr txBox="1"/>
          <p:nvPr/>
        </p:nvSpPr>
        <p:spPr>
          <a:xfrm>
            <a:off x="6617895" y="3836449"/>
            <a:ext cx="4431064" cy="461665"/>
          </a:xfrm>
          <a:prstGeom prst="rect">
            <a:avLst/>
          </a:prstGeom>
          <a:noFill/>
        </p:spPr>
        <p:txBody>
          <a:bodyPr wrap="square" lIns="108000" rIns="108000" rtlCol="0">
            <a:spAutoFit/>
          </a:bodyPr>
          <a:lstStyle/>
          <a:p>
            <a:pPr marL="0" indent="0">
              <a:buNone/>
            </a:pPr>
            <a:r>
              <a:rPr lang="en-GB" sz="2400" b="1" dirty="0">
                <a:solidFill>
                  <a:srgbClr val="333333"/>
                </a:solidFill>
                <a:latin typeface="Helvetica Neue"/>
              </a:rPr>
              <a:t>Course Logistics &amp; Materials</a:t>
            </a:r>
          </a:p>
        </p:txBody>
      </p:sp>
      <p:sp>
        <p:nvSpPr>
          <p:cNvPr id="7" name="TextBox 6">
            <a:extLst>
              <a:ext uri="{FF2B5EF4-FFF2-40B4-BE49-F238E27FC236}">
                <a16:creationId xmlns:a16="http://schemas.microsoft.com/office/drawing/2014/main" id="{EEAB8D7D-2C50-CD66-E262-7D050A363FE9}"/>
              </a:ext>
            </a:extLst>
          </p:cNvPr>
          <p:cNvSpPr txBox="1"/>
          <p:nvPr/>
        </p:nvSpPr>
        <p:spPr>
          <a:xfrm>
            <a:off x="6617896" y="4569620"/>
            <a:ext cx="5433857" cy="461665"/>
          </a:xfrm>
          <a:prstGeom prst="rect">
            <a:avLst/>
          </a:prstGeom>
          <a:noFill/>
        </p:spPr>
        <p:txBody>
          <a:bodyPr wrap="square" lIns="108000" rIns="108000" rtlCol="0">
            <a:spAutoFit/>
          </a:bodyPr>
          <a:lstStyle/>
          <a:p>
            <a:pPr marL="0" indent="0">
              <a:buNone/>
            </a:pPr>
            <a:r>
              <a:rPr lang="en-GB" sz="2400" b="1" dirty="0">
                <a:solidFill>
                  <a:srgbClr val="333333"/>
                </a:solidFill>
                <a:latin typeface="Helvetica Neue"/>
              </a:rPr>
              <a:t>Class Project</a:t>
            </a:r>
          </a:p>
        </p:txBody>
      </p:sp>
      <p:sp>
        <p:nvSpPr>
          <p:cNvPr id="9" name="TextBox 8">
            <a:extLst>
              <a:ext uri="{FF2B5EF4-FFF2-40B4-BE49-F238E27FC236}">
                <a16:creationId xmlns:a16="http://schemas.microsoft.com/office/drawing/2014/main" id="{D56D32F1-BB47-8EBA-7B8E-A992A0C8CD97}"/>
              </a:ext>
            </a:extLst>
          </p:cNvPr>
          <p:cNvSpPr txBox="1"/>
          <p:nvPr/>
        </p:nvSpPr>
        <p:spPr>
          <a:xfrm>
            <a:off x="6613031" y="5302062"/>
            <a:ext cx="5433857" cy="461665"/>
          </a:xfrm>
          <a:prstGeom prst="rect">
            <a:avLst/>
          </a:prstGeom>
          <a:noFill/>
        </p:spPr>
        <p:txBody>
          <a:bodyPr wrap="square" lIns="108000" rIns="108000" rtlCol="0">
            <a:spAutoFit/>
          </a:bodyPr>
          <a:lstStyle/>
          <a:p>
            <a:pPr marL="0" indent="0">
              <a:buNone/>
            </a:pPr>
            <a:r>
              <a:rPr lang="en-GB" sz="2400" b="1" dirty="0">
                <a:solidFill>
                  <a:srgbClr val="333333"/>
                </a:solidFill>
                <a:latin typeface="Helvetica Neue"/>
              </a:rPr>
              <a:t>Academic Agenda</a:t>
            </a:r>
          </a:p>
        </p:txBody>
      </p:sp>
      <p:sp>
        <p:nvSpPr>
          <p:cNvPr id="16" name="Rectangle: Rounded Corners 15">
            <a:extLst>
              <a:ext uri="{FF2B5EF4-FFF2-40B4-BE49-F238E27FC236}">
                <a16:creationId xmlns:a16="http://schemas.microsoft.com/office/drawing/2014/main" id="{F41D8A48-DB0B-0BA7-FE27-D7CCA401EB2C}"/>
              </a:ext>
            </a:extLst>
          </p:cNvPr>
          <p:cNvSpPr/>
          <p:nvPr/>
        </p:nvSpPr>
        <p:spPr>
          <a:xfrm>
            <a:off x="5797855" y="2366411"/>
            <a:ext cx="484039" cy="484039"/>
          </a:xfrm>
          <a:prstGeom prst="round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TextBox 19">
            <a:extLst>
              <a:ext uri="{FF2B5EF4-FFF2-40B4-BE49-F238E27FC236}">
                <a16:creationId xmlns:a16="http://schemas.microsoft.com/office/drawing/2014/main" id="{CFEC4DB4-1396-CC50-C2CA-28DD777F820D}"/>
              </a:ext>
            </a:extLst>
          </p:cNvPr>
          <p:cNvSpPr txBox="1"/>
          <p:nvPr/>
        </p:nvSpPr>
        <p:spPr>
          <a:xfrm>
            <a:off x="5797855" y="2413978"/>
            <a:ext cx="484038" cy="400110"/>
          </a:xfrm>
          <a:prstGeom prst="rect">
            <a:avLst/>
          </a:prstGeom>
          <a:no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02</a:t>
            </a:r>
            <a:endParaRPr lang="ko-KR" altLang="en-US" sz="2000" b="1" dirty="0">
              <a:solidFill>
                <a:schemeClr val="tx1">
                  <a:lumMod val="95000"/>
                  <a:lumOff val="5000"/>
                </a:schemeClr>
              </a:solidFill>
              <a:cs typeface="Arial" pitchFamily="34" charset="0"/>
            </a:endParaRPr>
          </a:p>
        </p:txBody>
      </p:sp>
      <p:sp>
        <p:nvSpPr>
          <p:cNvPr id="24" name="Rectangle: Rounded Corners 23">
            <a:extLst>
              <a:ext uri="{FF2B5EF4-FFF2-40B4-BE49-F238E27FC236}">
                <a16:creationId xmlns:a16="http://schemas.microsoft.com/office/drawing/2014/main" id="{9E7AB737-095C-CD3B-9EC8-90BF8F3D75A0}"/>
              </a:ext>
            </a:extLst>
          </p:cNvPr>
          <p:cNvSpPr/>
          <p:nvPr/>
        </p:nvSpPr>
        <p:spPr>
          <a:xfrm>
            <a:off x="5797855" y="3099608"/>
            <a:ext cx="484039" cy="484039"/>
          </a:xfrm>
          <a:prstGeom prst="round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5" name="TextBox 24">
            <a:extLst>
              <a:ext uri="{FF2B5EF4-FFF2-40B4-BE49-F238E27FC236}">
                <a16:creationId xmlns:a16="http://schemas.microsoft.com/office/drawing/2014/main" id="{6C8F8D3E-3337-683E-7A04-8F8B58BA5CD8}"/>
              </a:ext>
            </a:extLst>
          </p:cNvPr>
          <p:cNvSpPr txBox="1"/>
          <p:nvPr/>
        </p:nvSpPr>
        <p:spPr>
          <a:xfrm>
            <a:off x="5797855" y="3147175"/>
            <a:ext cx="484038" cy="400110"/>
          </a:xfrm>
          <a:prstGeom prst="rect">
            <a:avLst/>
          </a:prstGeom>
          <a:no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03</a:t>
            </a:r>
            <a:endParaRPr lang="ko-KR" altLang="en-US" sz="2000" b="1" dirty="0">
              <a:solidFill>
                <a:schemeClr val="tx1">
                  <a:lumMod val="95000"/>
                  <a:lumOff val="5000"/>
                </a:schemeClr>
              </a:solidFill>
              <a:cs typeface="Arial" pitchFamily="34" charset="0"/>
            </a:endParaRPr>
          </a:p>
        </p:txBody>
      </p:sp>
      <p:sp>
        <p:nvSpPr>
          <p:cNvPr id="27" name="Rectangle: Rounded Corners 26">
            <a:extLst>
              <a:ext uri="{FF2B5EF4-FFF2-40B4-BE49-F238E27FC236}">
                <a16:creationId xmlns:a16="http://schemas.microsoft.com/office/drawing/2014/main" id="{B3A0A5D0-B14D-7ECD-CEA0-E6B291FD70D4}"/>
              </a:ext>
            </a:extLst>
          </p:cNvPr>
          <p:cNvSpPr/>
          <p:nvPr/>
        </p:nvSpPr>
        <p:spPr>
          <a:xfrm>
            <a:off x="5797856" y="3832805"/>
            <a:ext cx="484039" cy="484039"/>
          </a:xfrm>
          <a:prstGeom prst="round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8" name="TextBox 27">
            <a:extLst>
              <a:ext uri="{FF2B5EF4-FFF2-40B4-BE49-F238E27FC236}">
                <a16:creationId xmlns:a16="http://schemas.microsoft.com/office/drawing/2014/main" id="{6B029452-0CF1-26A2-DA64-031CEB9F0F09}"/>
              </a:ext>
            </a:extLst>
          </p:cNvPr>
          <p:cNvSpPr txBox="1"/>
          <p:nvPr/>
        </p:nvSpPr>
        <p:spPr>
          <a:xfrm>
            <a:off x="5797856" y="3880372"/>
            <a:ext cx="484038" cy="400110"/>
          </a:xfrm>
          <a:prstGeom prst="rect">
            <a:avLst/>
          </a:prstGeom>
          <a:no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04</a:t>
            </a:r>
            <a:endParaRPr lang="ko-KR" altLang="en-US" sz="2000" b="1" dirty="0">
              <a:solidFill>
                <a:schemeClr val="tx1">
                  <a:lumMod val="95000"/>
                  <a:lumOff val="5000"/>
                </a:schemeClr>
              </a:solidFill>
              <a:cs typeface="Arial" pitchFamily="34" charset="0"/>
            </a:endParaRPr>
          </a:p>
        </p:txBody>
      </p:sp>
      <p:sp>
        <p:nvSpPr>
          <p:cNvPr id="29" name="Rectangle: Rounded Corners 28">
            <a:extLst>
              <a:ext uri="{FF2B5EF4-FFF2-40B4-BE49-F238E27FC236}">
                <a16:creationId xmlns:a16="http://schemas.microsoft.com/office/drawing/2014/main" id="{9A188197-C2D4-2503-D8CF-A5D7A6EF1F0B}"/>
              </a:ext>
            </a:extLst>
          </p:cNvPr>
          <p:cNvSpPr/>
          <p:nvPr/>
        </p:nvSpPr>
        <p:spPr>
          <a:xfrm>
            <a:off x="5797856" y="4572467"/>
            <a:ext cx="484039" cy="484039"/>
          </a:xfrm>
          <a:prstGeom prst="round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0" name="TextBox 29">
            <a:extLst>
              <a:ext uri="{FF2B5EF4-FFF2-40B4-BE49-F238E27FC236}">
                <a16:creationId xmlns:a16="http://schemas.microsoft.com/office/drawing/2014/main" id="{652C1612-8E9A-775E-CC7A-A08296B5CAF8}"/>
              </a:ext>
            </a:extLst>
          </p:cNvPr>
          <p:cNvSpPr txBox="1"/>
          <p:nvPr/>
        </p:nvSpPr>
        <p:spPr>
          <a:xfrm>
            <a:off x="5797856" y="4620034"/>
            <a:ext cx="484038" cy="400110"/>
          </a:xfrm>
          <a:prstGeom prst="rect">
            <a:avLst/>
          </a:prstGeom>
          <a:no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05</a:t>
            </a:r>
            <a:endParaRPr lang="ko-KR" altLang="en-US" sz="2000" b="1" dirty="0">
              <a:solidFill>
                <a:schemeClr val="tx1">
                  <a:lumMod val="95000"/>
                  <a:lumOff val="5000"/>
                </a:schemeClr>
              </a:solidFill>
              <a:cs typeface="Arial" pitchFamily="34" charset="0"/>
            </a:endParaRPr>
          </a:p>
        </p:txBody>
      </p:sp>
      <p:sp>
        <p:nvSpPr>
          <p:cNvPr id="31" name="Rectangle: Rounded Corners 30">
            <a:extLst>
              <a:ext uri="{FF2B5EF4-FFF2-40B4-BE49-F238E27FC236}">
                <a16:creationId xmlns:a16="http://schemas.microsoft.com/office/drawing/2014/main" id="{81E81EA7-5020-E4B6-0468-25DB01B60BD2}"/>
              </a:ext>
            </a:extLst>
          </p:cNvPr>
          <p:cNvSpPr/>
          <p:nvPr/>
        </p:nvSpPr>
        <p:spPr>
          <a:xfrm>
            <a:off x="5797856" y="5303684"/>
            <a:ext cx="484039" cy="484039"/>
          </a:xfrm>
          <a:prstGeom prst="round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0F6AF5-77A0-113F-84F5-CA9BB9E26582}"/>
              </a:ext>
            </a:extLst>
          </p:cNvPr>
          <p:cNvSpPr txBox="1"/>
          <p:nvPr/>
        </p:nvSpPr>
        <p:spPr>
          <a:xfrm>
            <a:off x="5797856" y="5351251"/>
            <a:ext cx="484038" cy="400110"/>
          </a:xfrm>
          <a:prstGeom prst="rect">
            <a:avLst/>
          </a:prstGeom>
          <a:no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06</a:t>
            </a:r>
            <a:endParaRPr lang="ko-KR" altLang="en-US" sz="2000" b="1" dirty="0">
              <a:solidFill>
                <a:schemeClr val="tx1">
                  <a:lumMod val="95000"/>
                  <a:lumOff val="5000"/>
                </a:schemeClr>
              </a:solidFill>
              <a:cs typeface="Arial" pitchFamily="34" charset="0"/>
            </a:endParaRPr>
          </a:p>
        </p:txBody>
      </p:sp>
    </p:spTree>
    <p:extLst>
      <p:ext uri="{BB962C8B-B14F-4D97-AF65-F5344CB8AC3E}">
        <p14:creationId xmlns:p14="http://schemas.microsoft.com/office/powerpoint/2010/main" val="3148822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
            <a:extLst>
              <a:ext uri="{FF2B5EF4-FFF2-40B4-BE49-F238E27FC236}">
                <a16:creationId xmlns:a16="http://schemas.microsoft.com/office/drawing/2014/main" id="{F2ABA149-34E3-6982-0CF0-CD5BBB9AF2D6}"/>
              </a:ext>
            </a:extLst>
          </p:cNvPr>
          <p:cNvSpPr txBox="1">
            <a:spLocks/>
          </p:cNvSpPr>
          <p:nvPr/>
        </p:nvSpPr>
        <p:spPr>
          <a:xfrm>
            <a:off x="916599" y="793069"/>
            <a:ext cx="5114189"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chemeClr val="bg2">
                    <a:lumMod val="50000"/>
                  </a:schemeClr>
                </a:solidFill>
                <a:effectLst/>
                <a:uLnTx/>
                <a:uFillTx/>
                <a:latin typeface="Arial"/>
                <a:cs typeface="Arial" pitchFamily="34" charset="0"/>
              </a:rPr>
              <a:t>Learning Objectives </a:t>
            </a:r>
          </a:p>
        </p:txBody>
      </p:sp>
      <p:sp>
        <p:nvSpPr>
          <p:cNvPr id="15" name="object 2">
            <a:extLst>
              <a:ext uri="{FF2B5EF4-FFF2-40B4-BE49-F238E27FC236}">
                <a16:creationId xmlns:a16="http://schemas.microsoft.com/office/drawing/2014/main" id="{EF58E025-DDEE-6BFB-3717-225DB9A9C2B9}"/>
              </a:ext>
            </a:extLst>
          </p:cNvPr>
          <p:cNvSpPr txBox="1"/>
          <p:nvPr/>
        </p:nvSpPr>
        <p:spPr>
          <a:xfrm>
            <a:off x="914762" y="1859483"/>
            <a:ext cx="10400937" cy="4176784"/>
          </a:xfrm>
          <a:prstGeom prst="rect">
            <a:avLst/>
          </a:prstGeom>
        </p:spPr>
        <p:txBody>
          <a:bodyPr vert="horz" wrap="square" lIns="0" tIns="13335" rIns="0" bIns="0" rtlCol="0">
            <a:spAutoFit/>
          </a:bodyPr>
          <a:lstStyle/>
          <a:p>
            <a:pPr marL="469265" indent="-456565" algn="just">
              <a:lnSpc>
                <a:spcPct val="150000"/>
              </a:lnSpc>
              <a:spcBef>
                <a:spcPts val="130"/>
              </a:spcBef>
              <a:buClr>
                <a:srgbClr val="00AF50"/>
              </a:buClr>
              <a:buFont typeface="Wingdings"/>
              <a:buChar char=""/>
              <a:tabLst>
                <a:tab pos="469265" algn="l"/>
              </a:tabLst>
            </a:pPr>
            <a:r>
              <a:rPr lang="en-GB" dirty="0">
                <a:latin typeface="Calibri"/>
                <a:cs typeface="Calibri"/>
              </a:rPr>
              <a:t>T</a:t>
            </a:r>
            <a:r>
              <a:rPr dirty="0">
                <a:latin typeface="Calibri"/>
                <a:cs typeface="Calibri"/>
              </a:rPr>
              <a:t>his</a:t>
            </a:r>
            <a:r>
              <a:rPr spc="130" dirty="0">
                <a:latin typeface="Calibri"/>
                <a:cs typeface="Calibri"/>
              </a:rPr>
              <a:t> </a:t>
            </a:r>
            <a:r>
              <a:rPr dirty="0">
                <a:latin typeface="Calibri"/>
                <a:cs typeface="Calibri"/>
              </a:rPr>
              <a:t>course</a:t>
            </a:r>
            <a:r>
              <a:rPr spc="140" dirty="0">
                <a:latin typeface="Calibri"/>
                <a:cs typeface="Calibri"/>
              </a:rPr>
              <a:t> </a:t>
            </a:r>
            <a:r>
              <a:rPr dirty="0">
                <a:latin typeface="Calibri"/>
                <a:cs typeface="Calibri"/>
              </a:rPr>
              <a:t>gives</a:t>
            </a:r>
            <a:r>
              <a:rPr spc="145" dirty="0">
                <a:latin typeface="Calibri"/>
                <a:cs typeface="Calibri"/>
              </a:rPr>
              <a:t> </a:t>
            </a:r>
            <a:r>
              <a:rPr dirty="0">
                <a:latin typeface="Calibri"/>
                <a:cs typeface="Calibri"/>
              </a:rPr>
              <a:t>a</a:t>
            </a:r>
            <a:r>
              <a:rPr spc="140" dirty="0">
                <a:latin typeface="Calibri"/>
                <a:cs typeface="Calibri"/>
              </a:rPr>
              <a:t> </a:t>
            </a:r>
            <a:r>
              <a:rPr b="1" dirty="0">
                <a:uFill>
                  <a:solidFill>
                    <a:srgbClr val="555F6C"/>
                  </a:solidFill>
                </a:uFill>
                <a:latin typeface="Calibri"/>
                <a:cs typeface="Calibri"/>
              </a:rPr>
              <a:t>basic</a:t>
            </a:r>
            <a:r>
              <a:rPr b="1" spc="140" dirty="0">
                <a:uFill>
                  <a:solidFill>
                    <a:srgbClr val="555F6C"/>
                  </a:solidFill>
                </a:uFill>
                <a:latin typeface="Calibri"/>
                <a:cs typeface="Calibri"/>
              </a:rPr>
              <a:t> </a:t>
            </a:r>
            <a:r>
              <a:rPr b="1" dirty="0">
                <a:uFill>
                  <a:solidFill>
                    <a:srgbClr val="555F6C"/>
                  </a:solidFill>
                </a:uFill>
                <a:latin typeface="Calibri"/>
                <a:cs typeface="Calibri"/>
              </a:rPr>
              <a:t>introduction</a:t>
            </a:r>
            <a:r>
              <a:rPr b="1" spc="135" dirty="0">
                <a:latin typeface="Calibri"/>
                <a:cs typeface="Calibri"/>
              </a:rPr>
              <a:t> </a:t>
            </a:r>
            <a:r>
              <a:rPr dirty="0">
                <a:latin typeface="Calibri"/>
                <a:cs typeface="Calibri"/>
              </a:rPr>
              <a:t>to</a:t>
            </a:r>
            <a:r>
              <a:rPr spc="130" dirty="0">
                <a:latin typeface="Calibri"/>
                <a:cs typeface="Calibri"/>
              </a:rPr>
              <a:t> </a:t>
            </a:r>
            <a:r>
              <a:rPr b="1" dirty="0">
                <a:latin typeface="Calibri"/>
                <a:cs typeface="Calibri"/>
              </a:rPr>
              <a:t>Artificial</a:t>
            </a:r>
            <a:r>
              <a:rPr b="1" spc="135" dirty="0">
                <a:latin typeface="Calibri"/>
                <a:cs typeface="Calibri"/>
              </a:rPr>
              <a:t> </a:t>
            </a:r>
            <a:r>
              <a:rPr b="1" spc="-10" dirty="0">
                <a:latin typeface="Calibri"/>
                <a:cs typeface="Calibri"/>
              </a:rPr>
              <a:t>Intelligence</a:t>
            </a:r>
            <a:r>
              <a:rPr lang="fr-FR" b="1" spc="-10" dirty="0">
                <a:latin typeface="Calibri"/>
                <a:cs typeface="Calibri"/>
              </a:rPr>
              <a:t> </a:t>
            </a:r>
            <a:r>
              <a:rPr sz="1100" dirty="0">
                <a:latin typeface="Calibri"/>
                <a:cs typeface="Calibri"/>
              </a:rPr>
              <a:t>(AI)</a:t>
            </a:r>
            <a:r>
              <a:rPr spc="-75" dirty="0">
                <a:latin typeface="Calibri"/>
                <a:cs typeface="Calibri"/>
              </a:rPr>
              <a:t> </a:t>
            </a:r>
            <a:r>
              <a:rPr dirty="0">
                <a:latin typeface="Calibri"/>
                <a:cs typeface="Calibri"/>
              </a:rPr>
              <a:t>and</a:t>
            </a:r>
            <a:r>
              <a:rPr spc="-40" dirty="0">
                <a:latin typeface="Calibri"/>
                <a:cs typeface="Calibri"/>
              </a:rPr>
              <a:t> </a:t>
            </a:r>
            <a:r>
              <a:rPr b="1" dirty="0">
                <a:latin typeface="Calibri"/>
                <a:cs typeface="Calibri"/>
              </a:rPr>
              <a:t>Machine</a:t>
            </a:r>
            <a:r>
              <a:rPr b="1" spc="-45" dirty="0">
                <a:latin typeface="Calibri"/>
                <a:cs typeface="Calibri"/>
              </a:rPr>
              <a:t> </a:t>
            </a:r>
            <a:r>
              <a:rPr b="1" dirty="0">
                <a:latin typeface="Calibri"/>
                <a:cs typeface="Calibri"/>
              </a:rPr>
              <a:t>Learning</a:t>
            </a:r>
            <a:r>
              <a:rPr b="1" spc="-50" dirty="0">
                <a:latin typeface="Calibri"/>
                <a:cs typeface="Calibri"/>
              </a:rPr>
              <a:t> </a:t>
            </a:r>
            <a:r>
              <a:rPr sz="1100" spc="-10" dirty="0">
                <a:latin typeface="Calibri"/>
                <a:cs typeface="Calibri"/>
              </a:rPr>
              <a:t>(ML)</a:t>
            </a:r>
            <a:r>
              <a:rPr spc="-10" dirty="0">
                <a:latin typeface="Calibri"/>
                <a:cs typeface="Calibri"/>
              </a:rPr>
              <a:t>.</a:t>
            </a:r>
            <a:endParaRPr dirty="0">
              <a:latin typeface="Calibri"/>
              <a:cs typeface="Calibri"/>
            </a:endParaRPr>
          </a:p>
          <a:p>
            <a:pPr marL="469265" marR="5080" indent="-457200" algn="just">
              <a:lnSpc>
                <a:spcPct val="150000"/>
              </a:lnSpc>
              <a:spcBef>
                <a:spcPts val="130"/>
              </a:spcBef>
              <a:buClr>
                <a:srgbClr val="00AF50"/>
              </a:buClr>
              <a:buFont typeface="Wingdings"/>
              <a:buChar char=""/>
              <a:tabLst>
                <a:tab pos="469265" algn="l"/>
              </a:tabLst>
            </a:pPr>
            <a:r>
              <a:rPr dirty="0">
                <a:latin typeface="Calibri"/>
                <a:cs typeface="Calibri"/>
              </a:rPr>
              <a:t>Students receive</a:t>
            </a:r>
            <a:r>
              <a:rPr spc="5" dirty="0">
                <a:latin typeface="Calibri"/>
                <a:cs typeface="Calibri"/>
              </a:rPr>
              <a:t> </a:t>
            </a:r>
            <a:r>
              <a:rPr dirty="0">
                <a:latin typeface="Calibri"/>
                <a:cs typeface="Calibri"/>
              </a:rPr>
              <a:t>an</a:t>
            </a:r>
            <a:r>
              <a:rPr spc="-5" dirty="0">
                <a:latin typeface="Calibri"/>
                <a:cs typeface="Calibri"/>
              </a:rPr>
              <a:t> </a:t>
            </a:r>
            <a:r>
              <a:rPr dirty="0">
                <a:latin typeface="Calibri"/>
                <a:cs typeface="Calibri"/>
              </a:rPr>
              <a:t>introduction</a:t>
            </a:r>
            <a:r>
              <a:rPr spc="5" dirty="0">
                <a:latin typeface="Calibri"/>
                <a:cs typeface="Calibri"/>
              </a:rPr>
              <a:t> </a:t>
            </a:r>
            <a:r>
              <a:rPr dirty="0">
                <a:latin typeface="Calibri"/>
                <a:cs typeface="Calibri"/>
              </a:rPr>
              <a:t>to philosophical</a:t>
            </a:r>
            <a:r>
              <a:rPr spc="5" dirty="0">
                <a:latin typeface="Calibri"/>
                <a:cs typeface="Calibri"/>
              </a:rPr>
              <a:t> </a:t>
            </a:r>
            <a:r>
              <a:rPr spc="-10" dirty="0">
                <a:latin typeface="Calibri"/>
                <a:cs typeface="Calibri"/>
              </a:rPr>
              <a:t>fundamental </a:t>
            </a:r>
            <a:r>
              <a:rPr dirty="0">
                <a:latin typeface="Calibri"/>
                <a:cs typeface="Calibri"/>
              </a:rPr>
              <a:t>problems</a:t>
            </a:r>
            <a:r>
              <a:rPr spc="-50" dirty="0">
                <a:latin typeface="Calibri"/>
                <a:cs typeface="Calibri"/>
              </a:rPr>
              <a:t> </a:t>
            </a:r>
            <a:r>
              <a:rPr dirty="0">
                <a:latin typeface="Calibri"/>
                <a:cs typeface="Calibri"/>
              </a:rPr>
              <a:t>and</a:t>
            </a:r>
            <a:r>
              <a:rPr spc="-55" dirty="0">
                <a:latin typeface="Calibri"/>
                <a:cs typeface="Calibri"/>
              </a:rPr>
              <a:t> </a:t>
            </a:r>
            <a:r>
              <a:rPr dirty="0">
                <a:latin typeface="Calibri"/>
                <a:cs typeface="Calibri"/>
              </a:rPr>
              <a:t>ethical</a:t>
            </a:r>
            <a:r>
              <a:rPr spc="-45" dirty="0">
                <a:latin typeface="Calibri"/>
                <a:cs typeface="Calibri"/>
              </a:rPr>
              <a:t> </a:t>
            </a:r>
            <a:r>
              <a:rPr dirty="0">
                <a:latin typeface="Calibri"/>
                <a:cs typeface="Calibri"/>
              </a:rPr>
              <a:t>questions</a:t>
            </a:r>
            <a:r>
              <a:rPr spc="-60" dirty="0">
                <a:latin typeface="Calibri"/>
                <a:cs typeface="Calibri"/>
              </a:rPr>
              <a:t> </a:t>
            </a:r>
            <a:r>
              <a:rPr spc="-10" dirty="0">
                <a:latin typeface="Calibri"/>
                <a:cs typeface="Calibri"/>
              </a:rPr>
              <a:t>related</a:t>
            </a:r>
            <a:r>
              <a:rPr spc="-40" dirty="0">
                <a:latin typeface="Calibri"/>
                <a:cs typeface="Calibri"/>
              </a:rPr>
              <a:t> </a:t>
            </a:r>
            <a:r>
              <a:rPr dirty="0">
                <a:latin typeface="Calibri"/>
                <a:cs typeface="Calibri"/>
              </a:rPr>
              <a:t>to</a:t>
            </a:r>
            <a:r>
              <a:rPr spc="-55" dirty="0">
                <a:latin typeface="Calibri"/>
                <a:cs typeface="Calibri"/>
              </a:rPr>
              <a:t> </a:t>
            </a:r>
            <a:r>
              <a:rPr dirty="0">
                <a:latin typeface="Calibri"/>
                <a:cs typeface="Calibri"/>
              </a:rPr>
              <a:t>ML/AI,</a:t>
            </a:r>
            <a:r>
              <a:rPr spc="-55" dirty="0">
                <a:latin typeface="Calibri"/>
                <a:cs typeface="Calibri"/>
              </a:rPr>
              <a:t> </a:t>
            </a:r>
            <a:r>
              <a:rPr dirty="0">
                <a:latin typeface="Calibri"/>
                <a:cs typeface="Calibri"/>
              </a:rPr>
              <a:t>as</a:t>
            </a:r>
            <a:r>
              <a:rPr spc="-55" dirty="0">
                <a:latin typeface="Calibri"/>
                <a:cs typeface="Calibri"/>
              </a:rPr>
              <a:t> </a:t>
            </a:r>
            <a:r>
              <a:rPr dirty="0">
                <a:latin typeface="Calibri"/>
                <a:cs typeface="Calibri"/>
              </a:rPr>
              <a:t>well</a:t>
            </a:r>
            <a:r>
              <a:rPr spc="-40" dirty="0">
                <a:latin typeface="Calibri"/>
                <a:cs typeface="Calibri"/>
              </a:rPr>
              <a:t> </a:t>
            </a:r>
            <a:r>
              <a:rPr dirty="0">
                <a:latin typeface="Calibri"/>
                <a:cs typeface="Calibri"/>
              </a:rPr>
              <a:t>as</a:t>
            </a:r>
            <a:r>
              <a:rPr spc="-65" dirty="0">
                <a:latin typeface="Calibri"/>
                <a:cs typeface="Calibri"/>
              </a:rPr>
              <a:t> </a:t>
            </a:r>
            <a:r>
              <a:rPr spc="-25" dirty="0">
                <a:latin typeface="Calibri"/>
                <a:cs typeface="Calibri"/>
              </a:rPr>
              <a:t>the </a:t>
            </a:r>
            <a:r>
              <a:rPr dirty="0">
                <a:latin typeface="Calibri"/>
                <a:cs typeface="Calibri"/>
              </a:rPr>
              <a:t>field's</a:t>
            </a:r>
            <a:r>
              <a:rPr spc="-90" dirty="0">
                <a:latin typeface="Calibri"/>
                <a:cs typeface="Calibri"/>
              </a:rPr>
              <a:t> </a:t>
            </a:r>
            <a:r>
              <a:rPr spc="-10" dirty="0">
                <a:latin typeface="Calibri"/>
                <a:cs typeface="Calibri"/>
              </a:rPr>
              <a:t>history</a:t>
            </a:r>
            <a:r>
              <a:rPr lang="fr-FR" spc="-10" dirty="0">
                <a:latin typeface="Calibri"/>
                <a:cs typeface="Calibri"/>
              </a:rPr>
              <a:t>. </a:t>
            </a:r>
            <a:r>
              <a:rPr lang="en-GB" spc="-10" dirty="0">
                <a:latin typeface="Calibri"/>
                <a:cs typeface="Calibri"/>
              </a:rPr>
              <a:t>Then, study the core topics  of  knowledge representation, reasoning, and learning.</a:t>
            </a:r>
            <a:r>
              <a:rPr lang="fr-FR" spc="-10" dirty="0">
                <a:latin typeface="Calibri"/>
                <a:cs typeface="Calibri"/>
              </a:rPr>
              <a:t> </a:t>
            </a:r>
          </a:p>
          <a:p>
            <a:pPr marL="469265" marR="5080" indent="-457200" algn="just">
              <a:lnSpc>
                <a:spcPct val="150000"/>
              </a:lnSpc>
              <a:spcBef>
                <a:spcPts val="130"/>
              </a:spcBef>
              <a:buClr>
                <a:srgbClr val="00AF50"/>
              </a:buClr>
              <a:buFont typeface="Wingdings"/>
              <a:buChar char=""/>
              <a:tabLst>
                <a:tab pos="469265" algn="l"/>
              </a:tabLst>
            </a:pPr>
            <a:r>
              <a:rPr dirty="0">
                <a:latin typeface="Calibri"/>
                <a:cs typeface="Calibri"/>
              </a:rPr>
              <a:t>Later</a:t>
            </a:r>
            <a:r>
              <a:rPr spc="60" dirty="0">
                <a:latin typeface="Calibri"/>
                <a:cs typeface="Calibri"/>
              </a:rPr>
              <a:t> </a:t>
            </a:r>
            <a:r>
              <a:rPr dirty="0">
                <a:latin typeface="Calibri"/>
                <a:cs typeface="Calibri"/>
              </a:rPr>
              <a:t>topics</a:t>
            </a:r>
            <a:r>
              <a:rPr spc="50" dirty="0">
                <a:latin typeface="Calibri"/>
                <a:cs typeface="Calibri"/>
              </a:rPr>
              <a:t> </a:t>
            </a:r>
            <a:r>
              <a:rPr dirty="0">
                <a:latin typeface="Calibri"/>
                <a:cs typeface="Calibri"/>
              </a:rPr>
              <a:t>will</a:t>
            </a:r>
            <a:r>
              <a:rPr spc="55" dirty="0">
                <a:latin typeface="Calibri"/>
                <a:cs typeface="Calibri"/>
              </a:rPr>
              <a:t> </a:t>
            </a:r>
            <a:r>
              <a:rPr dirty="0">
                <a:latin typeface="Calibri"/>
                <a:cs typeface="Calibri"/>
              </a:rPr>
              <a:t>include</a:t>
            </a:r>
            <a:r>
              <a:rPr spc="60" dirty="0">
                <a:latin typeface="Calibri"/>
                <a:cs typeface="Calibri"/>
              </a:rPr>
              <a:t> </a:t>
            </a:r>
            <a:r>
              <a:rPr dirty="0">
                <a:latin typeface="Calibri"/>
                <a:cs typeface="Calibri"/>
              </a:rPr>
              <a:t>and</a:t>
            </a:r>
            <a:r>
              <a:rPr spc="55" dirty="0">
                <a:latin typeface="Calibri"/>
                <a:cs typeface="Calibri"/>
              </a:rPr>
              <a:t> </a:t>
            </a:r>
            <a:r>
              <a:rPr dirty="0">
                <a:latin typeface="Calibri"/>
                <a:cs typeface="Calibri"/>
              </a:rPr>
              <a:t>introduction</a:t>
            </a:r>
            <a:r>
              <a:rPr spc="60" dirty="0">
                <a:latin typeface="Calibri"/>
                <a:cs typeface="Calibri"/>
              </a:rPr>
              <a:t> </a:t>
            </a:r>
            <a:r>
              <a:rPr dirty="0">
                <a:latin typeface="Calibri"/>
                <a:cs typeface="Calibri"/>
              </a:rPr>
              <a:t>to</a:t>
            </a:r>
            <a:r>
              <a:rPr spc="45" dirty="0">
                <a:latin typeface="Calibri"/>
                <a:cs typeface="Calibri"/>
              </a:rPr>
              <a:t> </a:t>
            </a:r>
            <a:r>
              <a:rPr dirty="0">
                <a:latin typeface="Calibri"/>
                <a:cs typeface="Calibri"/>
              </a:rPr>
              <a:t>machine</a:t>
            </a:r>
            <a:r>
              <a:rPr spc="60" dirty="0">
                <a:latin typeface="Calibri"/>
                <a:cs typeface="Calibri"/>
              </a:rPr>
              <a:t> </a:t>
            </a:r>
            <a:r>
              <a:rPr spc="-10" dirty="0">
                <a:latin typeface="Calibri"/>
                <a:cs typeface="Calibri"/>
              </a:rPr>
              <a:t>learning,</a:t>
            </a:r>
            <a:r>
              <a:rPr lang="fr-FR" spc="-10" dirty="0">
                <a:latin typeface="Calibri"/>
                <a:cs typeface="Calibri"/>
              </a:rPr>
              <a:t> </a:t>
            </a:r>
            <a:r>
              <a:rPr dirty="0">
                <a:latin typeface="Calibri"/>
                <a:cs typeface="Calibri"/>
              </a:rPr>
              <a:t>probabilistic</a:t>
            </a:r>
            <a:r>
              <a:rPr spc="305" dirty="0">
                <a:latin typeface="Calibri"/>
                <a:cs typeface="Calibri"/>
              </a:rPr>
              <a:t> </a:t>
            </a:r>
            <a:r>
              <a:rPr dirty="0">
                <a:latin typeface="Calibri"/>
                <a:cs typeface="Calibri"/>
              </a:rPr>
              <a:t>reasoning,</a:t>
            </a:r>
            <a:r>
              <a:rPr spc="310" dirty="0">
                <a:latin typeface="Calibri"/>
                <a:cs typeface="Calibri"/>
              </a:rPr>
              <a:t> </a:t>
            </a:r>
            <a:r>
              <a:rPr dirty="0">
                <a:latin typeface="Calibri"/>
                <a:cs typeface="Calibri"/>
              </a:rPr>
              <a:t>in</a:t>
            </a:r>
            <a:r>
              <a:rPr spc="300" dirty="0">
                <a:latin typeface="Calibri"/>
                <a:cs typeface="Calibri"/>
              </a:rPr>
              <a:t> </a:t>
            </a:r>
            <a:r>
              <a:rPr dirty="0">
                <a:latin typeface="Calibri"/>
                <a:cs typeface="Calibri"/>
              </a:rPr>
              <a:t>addition</a:t>
            </a:r>
            <a:r>
              <a:rPr spc="305" dirty="0">
                <a:latin typeface="Calibri"/>
                <a:cs typeface="Calibri"/>
              </a:rPr>
              <a:t> </a:t>
            </a:r>
            <a:r>
              <a:rPr dirty="0">
                <a:latin typeface="Calibri"/>
                <a:cs typeface="Calibri"/>
              </a:rPr>
              <a:t>to</a:t>
            </a:r>
            <a:r>
              <a:rPr spc="300" dirty="0">
                <a:latin typeface="Calibri"/>
                <a:cs typeface="Calibri"/>
              </a:rPr>
              <a:t> </a:t>
            </a:r>
            <a:r>
              <a:rPr dirty="0">
                <a:latin typeface="Calibri"/>
                <a:cs typeface="Calibri"/>
              </a:rPr>
              <a:t>applications</a:t>
            </a:r>
            <a:r>
              <a:rPr spc="290" dirty="0">
                <a:latin typeface="Calibri"/>
                <a:cs typeface="Calibri"/>
              </a:rPr>
              <a:t> </a:t>
            </a:r>
            <a:r>
              <a:rPr dirty="0">
                <a:latin typeface="Calibri"/>
                <a:cs typeface="Calibri"/>
              </a:rPr>
              <a:t>such</a:t>
            </a:r>
            <a:r>
              <a:rPr spc="305" dirty="0">
                <a:latin typeface="Calibri"/>
                <a:cs typeface="Calibri"/>
              </a:rPr>
              <a:t> </a:t>
            </a:r>
            <a:r>
              <a:rPr spc="-25" dirty="0">
                <a:latin typeface="Calibri"/>
                <a:cs typeface="Calibri"/>
              </a:rPr>
              <a:t>as </a:t>
            </a:r>
            <a:r>
              <a:rPr dirty="0">
                <a:latin typeface="Calibri"/>
                <a:cs typeface="Calibri"/>
              </a:rPr>
              <a:t>robotics,</a:t>
            </a:r>
            <a:r>
              <a:rPr spc="-75" dirty="0">
                <a:latin typeface="Calibri"/>
                <a:cs typeface="Calibri"/>
              </a:rPr>
              <a:t> </a:t>
            </a:r>
            <a:r>
              <a:rPr dirty="0">
                <a:latin typeface="Calibri"/>
                <a:cs typeface="Calibri"/>
              </a:rPr>
              <a:t>computer</a:t>
            </a:r>
            <a:r>
              <a:rPr spc="-75" dirty="0">
                <a:latin typeface="Calibri"/>
                <a:cs typeface="Calibri"/>
              </a:rPr>
              <a:t> </a:t>
            </a:r>
            <a:r>
              <a:rPr dirty="0">
                <a:latin typeface="Calibri"/>
                <a:cs typeface="Calibri"/>
              </a:rPr>
              <a:t>vision,</a:t>
            </a:r>
            <a:r>
              <a:rPr spc="-70" dirty="0">
                <a:latin typeface="Calibri"/>
                <a:cs typeface="Calibri"/>
              </a:rPr>
              <a:t> </a:t>
            </a:r>
            <a:r>
              <a:rPr dirty="0">
                <a:latin typeface="Calibri"/>
                <a:cs typeface="Calibri"/>
              </a:rPr>
              <a:t>and</a:t>
            </a:r>
            <a:r>
              <a:rPr spc="-65" dirty="0">
                <a:latin typeface="Calibri"/>
                <a:cs typeface="Calibri"/>
              </a:rPr>
              <a:t> </a:t>
            </a:r>
            <a:r>
              <a:rPr dirty="0">
                <a:latin typeface="Calibri"/>
                <a:cs typeface="Calibri"/>
              </a:rPr>
              <a:t>natural</a:t>
            </a:r>
            <a:r>
              <a:rPr spc="-65" dirty="0">
                <a:latin typeface="Calibri"/>
                <a:cs typeface="Calibri"/>
              </a:rPr>
              <a:t> </a:t>
            </a:r>
            <a:r>
              <a:rPr dirty="0">
                <a:latin typeface="Calibri"/>
                <a:cs typeface="Calibri"/>
              </a:rPr>
              <a:t>language</a:t>
            </a:r>
            <a:r>
              <a:rPr spc="-75" dirty="0">
                <a:latin typeface="Calibri"/>
                <a:cs typeface="Calibri"/>
              </a:rPr>
              <a:t> </a:t>
            </a:r>
            <a:r>
              <a:rPr spc="-10" dirty="0">
                <a:latin typeface="Calibri"/>
                <a:cs typeface="Calibri"/>
              </a:rPr>
              <a:t>processing</a:t>
            </a:r>
            <a:r>
              <a:rPr lang="fr-FR" spc="-10" dirty="0">
                <a:latin typeface="Calibri"/>
                <a:cs typeface="Calibri"/>
              </a:rPr>
              <a:t>.</a:t>
            </a:r>
          </a:p>
          <a:p>
            <a:pPr marL="469265" marR="5080" indent="-457200" algn="just">
              <a:lnSpc>
                <a:spcPct val="150000"/>
              </a:lnSpc>
              <a:spcBef>
                <a:spcPts val="130"/>
              </a:spcBef>
              <a:buClr>
                <a:srgbClr val="00AF50"/>
              </a:buClr>
              <a:buFont typeface="Wingdings"/>
              <a:buChar char=""/>
              <a:tabLst>
                <a:tab pos="469265" algn="l"/>
              </a:tabLst>
            </a:pPr>
            <a:r>
              <a:rPr lang="en-GB" spc="-10" dirty="0">
                <a:latin typeface="Calibri"/>
                <a:cs typeface="Calibri"/>
              </a:rPr>
              <a:t>The  course  covers  basic  </a:t>
            </a:r>
            <a:r>
              <a:rPr lang="en-GB" b="1" spc="-10" dirty="0">
                <a:latin typeface="Calibri"/>
                <a:cs typeface="Calibri"/>
              </a:rPr>
              <a:t>supervised classification </a:t>
            </a:r>
            <a:r>
              <a:rPr lang="en-GB" sz="1100" spc="-10" dirty="0">
                <a:latin typeface="Calibri"/>
                <a:cs typeface="Calibri"/>
              </a:rPr>
              <a:t>(e.g., Artificial Neural Networks)</a:t>
            </a:r>
            <a:r>
              <a:rPr lang="en-GB" spc="-10" dirty="0">
                <a:latin typeface="Calibri"/>
                <a:cs typeface="Calibri"/>
              </a:rPr>
              <a:t>, as well as </a:t>
            </a:r>
            <a:r>
              <a:rPr lang="en-GB" b="1" spc="-10" dirty="0">
                <a:latin typeface="Calibri"/>
                <a:cs typeface="Calibri"/>
              </a:rPr>
              <a:t>unsupervised learning</a:t>
            </a:r>
            <a:r>
              <a:rPr lang="en-GB" spc="-10" dirty="0">
                <a:latin typeface="Calibri"/>
                <a:cs typeface="Calibri"/>
              </a:rPr>
              <a:t> </a:t>
            </a:r>
            <a:r>
              <a:rPr lang="en-GB" sz="1100" spc="-10" dirty="0">
                <a:latin typeface="Calibri"/>
                <a:cs typeface="Calibri"/>
              </a:rPr>
              <a:t>(Clustering)</a:t>
            </a:r>
            <a:r>
              <a:rPr lang="en-GB" spc="-10" dirty="0">
                <a:latin typeface="Calibri"/>
                <a:cs typeface="Calibri"/>
              </a:rPr>
              <a:t>, </a:t>
            </a:r>
            <a:r>
              <a:rPr lang="en-GB" b="1" spc="-10" dirty="0">
                <a:latin typeface="Calibri"/>
                <a:cs typeface="Calibri"/>
              </a:rPr>
              <a:t>optimization</a:t>
            </a:r>
            <a:r>
              <a:rPr lang="en-GB" spc="-10" dirty="0">
                <a:latin typeface="Calibri"/>
                <a:cs typeface="Calibri"/>
              </a:rPr>
              <a:t> </a:t>
            </a:r>
            <a:r>
              <a:rPr lang="en-GB" sz="1100" spc="-10" dirty="0">
                <a:latin typeface="Calibri"/>
                <a:cs typeface="Calibri"/>
              </a:rPr>
              <a:t>(Evolutionary Algorithms and other search methods)</a:t>
            </a:r>
            <a:r>
              <a:rPr lang="en-GB" spc="-10" dirty="0">
                <a:latin typeface="Calibri"/>
                <a:cs typeface="Calibri"/>
              </a:rPr>
              <a:t> and tentatively regression and reinforcement learning.</a:t>
            </a:r>
            <a:endParaRPr lang="fr-FR" spc="-10" dirty="0">
              <a:latin typeface="Calibri"/>
              <a:cs typeface="Calibri"/>
            </a:endParaRPr>
          </a:p>
          <a:p>
            <a:pPr marL="469265" indent="-456565" algn="just">
              <a:lnSpc>
                <a:spcPct val="150000"/>
              </a:lnSpc>
              <a:spcBef>
                <a:spcPts val="130"/>
              </a:spcBef>
              <a:buClr>
                <a:srgbClr val="00AF50"/>
              </a:buClr>
              <a:buFont typeface="Wingdings"/>
              <a:buChar char=""/>
              <a:tabLst>
                <a:tab pos="469265" algn="l"/>
              </a:tabLst>
            </a:pPr>
            <a:r>
              <a:rPr lang="en-GB" dirty="0">
                <a:latin typeface="Calibri"/>
                <a:cs typeface="Calibri"/>
              </a:rPr>
              <a:t>Through an algorithmic approach, the students are given a practical understanding of the methods being taught, in particular through making their own implementations of several of the methods.</a:t>
            </a:r>
            <a:endParaRPr dirty="0">
              <a:latin typeface="Calibri"/>
              <a:cs typeface="Calibri"/>
            </a:endParaRPr>
          </a:p>
        </p:txBody>
      </p:sp>
      <p:sp>
        <p:nvSpPr>
          <p:cNvPr id="2" name="Slide Number Placeholder 1">
            <a:extLst>
              <a:ext uri="{FF2B5EF4-FFF2-40B4-BE49-F238E27FC236}">
                <a16:creationId xmlns:a16="http://schemas.microsoft.com/office/drawing/2014/main" id="{A4A364B5-EE41-C729-2D17-7B56C8201124}"/>
              </a:ext>
            </a:extLst>
          </p:cNvPr>
          <p:cNvSpPr>
            <a:spLocks noGrp="1"/>
          </p:cNvSpPr>
          <p:nvPr>
            <p:ph type="sldNum" sz="quarter" idx="12"/>
          </p:nvPr>
        </p:nvSpPr>
        <p:spPr/>
        <p:txBody>
          <a:bodyPr/>
          <a:lstStyle/>
          <a:p>
            <a:fld id="{AA64B1FB-CC2F-4DD5-A068-EEAB847401EC}" type="slidenum">
              <a:rPr lang="en-GB" smtClean="0"/>
              <a:t>4</a:t>
            </a:fld>
            <a:endParaRPr lang="en-GB"/>
          </a:p>
        </p:txBody>
      </p:sp>
    </p:spTree>
    <p:extLst>
      <p:ext uri="{BB962C8B-B14F-4D97-AF65-F5344CB8AC3E}">
        <p14:creationId xmlns:p14="http://schemas.microsoft.com/office/powerpoint/2010/main" val="394523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3978616-4B86-9ECD-2BDA-80FE327C0D73}"/>
              </a:ext>
            </a:extLst>
          </p:cNvPr>
          <p:cNvGrpSpPr/>
          <p:nvPr/>
        </p:nvGrpSpPr>
        <p:grpSpPr>
          <a:xfrm>
            <a:off x="6881077" y="627506"/>
            <a:ext cx="4820485" cy="2817566"/>
            <a:chOff x="7673340" y="392556"/>
            <a:chExt cx="4023360" cy="2581275"/>
          </a:xfrm>
        </p:grpSpPr>
        <p:pic>
          <p:nvPicPr>
            <p:cNvPr id="3076" name="Picture 4" descr="13,804 Ai Layout Images, Stock Photos, 3D objects, &amp; Vectors | Shutterstock">
              <a:extLst>
                <a:ext uri="{FF2B5EF4-FFF2-40B4-BE49-F238E27FC236}">
                  <a16:creationId xmlns:a16="http://schemas.microsoft.com/office/drawing/2014/main" id="{84E59E9D-83CC-21C9-6CEF-C636577BBC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690" t="14095" b="11012"/>
            <a:stretch/>
          </p:blipFill>
          <p:spPr bwMode="auto">
            <a:xfrm>
              <a:off x="7772400" y="392556"/>
              <a:ext cx="3924300" cy="25812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44831F3-011C-C693-BDAA-110FD892E1AD}"/>
                </a:ext>
              </a:extLst>
            </p:cNvPr>
            <p:cNvSpPr/>
            <p:nvPr/>
          </p:nvSpPr>
          <p:spPr>
            <a:xfrm>
              <a:off x="7673340" y="586740"/>
              <a:ext cx="784860" cy="5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Text Placeholder 1">
            <a:extLst>
              <a:ext uri="{FF2B5EF4-FFF2-40B4-BE49-F238E27FC236}">
                <a16:creationId xmlns:a16="http://schemas.microsoft.com/office/drawing/2014/main" id="{9DAEE79D-21FB-96F5-A8A1-426C3FB82C13}"/>
              </a:ext>
            </a:extLst>
          </p:cNvPr>
          <p:cNvSpPr txBox="1">
            <a:spLocks/>
          </p:cNvSpPr>
          <p:nvPr/>
        </p:nvSpPr>
        <p:spPr>
          <a:xfrm>
            <a:off x="707408" y="677642"/>
            <a:ext cx="5916277"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chemeClr val="bg2">
                    <a:lumMod val="50000"/>
                  </a:schemeClr>
                </a:solidFill>
                <a:effectLst/>
                <a:uLnTx/>
                <a:uFillTx/>
                <a:latin typeface="Arial"/>
                <a:cs typeface="Arial" pitchFamily="34" charset="0"/>
              </a:rPr>
              <a:t>Topics Covered </a:t>
            </a:r>
          </a:p>
        </p:txBody>
      </p:sp>
      <p:sp>
        <p:nvSpPr>
          <p:cNvPr id="4" name="Text Placeholder 1">
            <a:extLst>
              <a:ext uri="{FF2B5EF4-FFF2-40B4-BE49-F238E27FC236}">
                <a16:creationId xmlns:a16="http://schemas.microsoft.com/office/drawing/2014/main" id="{6FBA5C12-0CCD-7D32-F248-A01AA08E3907}"/>
              </a:ext>
            </a:extLst>
          </p:cNvPr>
          <p:cNvSpPr txBox="1">
            <a:spLocks/>
          </p:cNvSpPr>
          <p:nvPr/>
        </p:nvSpPr>
        <p:spPr>
          <a:xfrm>
            <a:off x="6717527" y="3684378"/>
            <a:ext cx="4606073"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chemeClr val="bg2">
                    <a:lumMod val="50000"/>
                  </a:schemeClr>
                </a:solidFill>
                <a:effectLst/>
                <a:uLnTx/>
                <a:uFillTx/>
                <a:latin typeface="Arial"/>
                <a:cs typeface="Arial" pitchFamily="34" charset="0"/>
              </a:rPr>
              <a:t>Recommended background</a:t>
            </a:r>
          </a:p>
        </p:txBody>
      </p:sp>
      <p:sp>
        <p:nvSpPr>
          <p:cNvPr id="7" name="TextBox 6">
            <a:extLst>
              <a:ext uri="{FF2B5EF4-FFF2-40B4-BE49-F238E27FC236}">
                <a16:creationId xmlns:a16="http://schemas.microsoft.com/office/drawing/2014/main" id="{13E77CC3-E4B8-FC7F-29EB-8E29A484B0EE}"/>
              </a:ext>
            </a:extLst>
          </p:cNvPr>
          <p:cNvSpPr txBox="1"/>
          <p:nvPr/>
        </p:nvSpPr>
        <p:spPr>
          <a:xfrm>
            <a:off x="6759098" y="4482285"/>
            <a:ext cx="4799807" cy="1692771"/>
          </a:xfrm>
          <a:prstGeom prst="rect">
            <a:avLst/>
          </a:prstGeom>
          <a:noFill/>
        </p:spPr>
        <p:txBody>
          <a:bodyPr wrap="square">
            <a:spAutoFit/>
          </a:bodyPr>
          <a:lstStyle/>
          <a:p>
            <a:pPr algn="just"/>
            <a:r>
              <a:rPr lang="en-GB" sz="1600" dirty="0"/>
              <a:t>S</a:t>
            </a:r>
            <a:r>
              <a:rPr lang="en-GB" sz="1600" b="0" i="0" dirty="0">
                <a:effectLst/>
              </a:rPr>
              <a:t>tudents who have experience with </a:t>
            </a:r>
            <a:r>
              <a:rPr lang="en-GB" sz="1600" b="1" i="0" dirty="0">
                <a:effectLst/>
              </a:rPr>
              <a:t>Python / </a:t>
            </a:r>
            <a:r>
              <a:rPr lang="en-GB" sz="1600" b="1" i="0" dirty="0" err="1">
                <a:effectLst/>
              </a:rPr>
              <a:t>Matlab</a:t>
            </a:r>
            <a:r>
              <a:rPr lang="en-GB" sz="1600" b="0" i="0" dirty="0">
                <a:effectLst/>
              </a:rPr>
              <a:t>, ideally some background in </a:t>
            </a:r>
            <a:r>
              <a:rPr lang="en-GB" sz="1600" b="1" i="0" dirty="0">
                <a:effectLst/>
              </a:rPr>
              <a:t>probability, statistics and linear algebra</a:t>
            </a:r>
            <a:r>
              <a:rPr lang="en-GB" sz="1600" dirty="0"/>
              <a:t>.</a:t>
            </a:r>
          </a:p>
          <a:p>
            <a:pPr algn="just"/>
            <a:endParaRPr lang="en-GB" sz="1400" b="0" i="0" dirty="0">
              <a:effectLst/>
            </a:endParaRPr>
          </a:p>
          <a:p>
            <a:r>
              <a:rPr lang="en-GB" sz="1400" b="0" i="0" dirty="0">
                <a:solidFill>
                  <a:schemeClr val="accent1"/>
                </a:solidFill>
                <a:effectLst/>
              </a:rPr>
              <a:t>If you don’t have background in these areas, you may still sign up, but be  aware that you will probably need to learn some of these items as the class goes on </a:t>
            </a:r>
            <a:r>
              <a:rPr lang="en-GB" sz="1050" b="0" i="0" dirty="0">
                <a:solidFill>
                  <a:schemeClr val="accent1"/>
                </a:solidFill>
                <a:effectLst/>
              </a:rPr>
              <a:t>(pointers to references will be provided)</a:t>
            </a:r>
            <a:r>
              <a:rPr lang="en-GB" sz="1400" b="0" i="0" dirty="0">
                <a:solidFill>
                  <a:schemeClr val="accent1"/>
                </a:solidFill>
                <a:effectLst/>
              </a:rPr>
              <a:t>.</a:t>
            </a:r>
          </a:p>
        </p:txBody>
      </p:sp>
      <p:sp>
        <p:nvSpPr>
          <p:cNvPr id="9" name="TextBox 8">
            <a:extLst>
              <a:ext uri="{FF2B5EF4-FFF2-40B4-BE49-F238E27FC236}">
                <a16:creationId xmlns:a16="http://schemas.microsoft.com/office/drawing/2014/main" id="{26397043-2528-6C8D-C66F-901900B0E05A}"/>
              </a:ext>
            </a:extLst>
          </p:cNvPr>
          <p:cNvSpPr txBox="1"/>
          <p:nvPr/>
        </p:nvSpPr>
        <p:spPr>
          <a:xfrm>
            <a:off x="707408" y="1723319"/>
            <a:ext cx="5702917" cy="4503797"/>
          </a:xfrm>
          <a:prstGeom prst="rect">
            <a:avLst/>
          </a:prstGeom>
          <a:noFill/>
        </p:spPr>
        <p:txBody>
          <a:bodyPr wrap="square">
            <a:spAutoFit/>
          </a:bodyPr>
          <a:lstStyle/>
          <a:p>
            <a:pPr marL="355600" indent="-342900">
              <a:lnSpc>
                <a:spcPct val="100000"/>
              </a:lnSpc>
              <a:spcBef>
                <a:spcPts val="400"/>
              </a:spcBef>
              <a:buFont typeface="Courier New" panose="02070309020205020404" pitchFamily="49" charset="0"/>
              <a:buChar char="o"/>
              <a:tabLst>
                <a:tab pos="354965" algn="l"/>
              </a:tabLst>
            </a:pPr>
            <a:r>
              <a:rPr lang="en-GB" sz="1600" dirty="0">
                <a:latin typeface="Arial MT"/>
                <a:cs typeface="Arial MT"/>
              </a:rPr>
              <a:t>Main</a:t>
            </a:r>
            <a:r>
              <a:rPr lang="en-GB" sz="1600" spc="155" dirty="0">
                <a:latin typeface="Arial MT"/>
                <a:cs typeface="Arial MT"/>
              </a:rPr>
              <a:t> </a:t>
            </a:r>
            <a:r>
              <a:rPr lang="en-GB" sz="1600" dirty="0">
                <a:latin typeface="Arial MT"/>
                <a:cs typeface="Arial MT"/>
              </a:rPr>
              <a:t>approaches</a:t>
            </a:r>
            <a:r>
              <a:rPr lang="en-GB" sz="1600" spc="195" dirty="0">
                <a:latin typeface="Arial MT"/>
                <a:cs typeface="Arial MT"/>
              </a:rPr>
              <a:t> </a:t>
            </a:r>
            <a:r>
              <a:rPr lang="en-GB" sz="1600" dirty="0">
                <a:latin typeface="Arial MT"/>
                <a:cs typeface="Arial MT"/>
              </a:rPr>
              <a:t>to</a:t>
            </a:r>
            <a:r>
              <a:rPr lang="en-GB" sz="1600" spc="15" dirty="0">
                <a:latin typeface="Arial MT"/>
                <a:cs typeface="Arial MT"/>
              </a:rPr>
              <a:t> </a:t>
            </a:r>
            <a:r>
              <a:rPr lang="en-GB" sz="1600" dirty="0">
                <a:latin typeface="Arial MT"/>
                <a:cs typeface="Arial MT"/>
              </a:rPr>
              <a:t>Artificial Intelligence and</a:t>
            </a:r>
            <a:r>
              <a:rPr lang="en-GB" sz="1600" spc="130" dirty="0">
                <a:latin typeface="Arial MT"/>
                <a:cs typeface="Arial MT"/>
              </a:rPr>
              <a:t> </a:t>
            </a:r>
            <a:r>
              <a:rPr lang="en-GB" sz="1600" spc="-10" dirty="0">
                <a:latin typeface="Arial MT"/>
                <a:cs typeface="Arial MT"/>
              </a:rPr>
              <a:t>Learning</a:t>
            </a:r>
          </a:p>
          <a:p>
            <a:pPr marL="355600" indent="-342900">
              <a:lnSpc>
                <a:spcPct val="100000"/>
              </a:lnSpc>
              <a:spcBef>
                <a:spcPts val="400"/>
              </a:spcBef>
              <a:buFont typeface="Courier New" panose="02070309020205020404" pitchFamily="49" charset="0"/>
              <a:buChar char="o"/>
              <a:tabLst>
                <a:tab pos="354965" algn="l"/>
              </a:tabLst>
            </a:pPr>
            <a:endParaRPr lang="en-GB" sz="200" dirty="0">
              <a:latin typeface="Arial MT"/>
              <a:cs typeface="Arial MT"/>
            </a:endParaRPr>
          </a:p>
          <a:p>
            <a:pPr marL="355600" indent="-342900">
              <a:spcBef>
                <a:spcPts val="400"/>
              </a:spcBef>
              <a:buFont typeface="Courier New" panose="02070309020205020404" pitchFamily="49" charset="0"/>
              <a:buChar char="o"/>
              <a:tabLst>
                <a:tab pos="354965" algn="l"/>
              </a:tabLst>
            </a:pPr>
            <a:r>
              <a:rPr lang="en-GB" sz="1600" dirty="0">
                <a:latin typeface="Arial MT"/>
                <a:cs typeface="Arial MT"/>
              </a:rPr>
              <a:t>Task</a:t>
            </a:r>
            <a:r>
              <a:rPr lang="en-GB" sz="1600" spc="-75" dirty="0">
                <a:latin typeface="Arial MT"/>
                <a:cs typeface="Arial MT"/>
              </a:rPr>
              <a:t> </a:t>
            </a:r>
            <a:r>
              <a:rPr lang="en-GB" sz="1600" spc="-10" dirty="0">
                <a:latin typeface="Arial MT"/>
                <a:cs typeface="Arial MT"/>
              </a:rPr>
              <a:t>environment</a:t>
            </a:r>
            <a:endParaRPr lang="en-GB" sz="800" dirty="0">
              <a:latin typeface="Arial MT"/>
              <a:cs typeface="Arial MT"/>
            </a:endParaRPr>
          </a:p>
          <a:p>
            <a:pPr marL="355600" indent="-342900">
              <a:lnSpc>
                <a:spcPct val="100000"/>
              </a:lnSpc>
              <a:spcBef>
                <a:spcPts val="400"/>
              </a:spcBef>
              <a:buFont typeface="Courier New" panose="02070309020205020404" pitchFamily="49" charset="0"/>
              <a:buChar char="o"/>
              <a:tabLst>
                <a:tab pos="354965" algn="l"/>
              </a:tabLst>
            </a:pPr>
            <a:endParaRPr lang="en-GB" sz="200" dirty="0">
              <a:latin typeface="Arial MT"/>
              <a:cs typeface="Arial MT"/>
            </a:endParaRPr>
          </a:p>
          <a:p>
            <a:pPr marL="355600" indent="-342900">
              <a:lnSpc>
                <a:spcPct val="100000"/>
              </a:lnSpc>
              <a:spcBef>
                <a:spcPts val="400"/>
              </a:spcBef>
              <a:buFont typeface="Courier New" panose="02070309020205020404" pitchFamily="49" charset="0"/>
              <a:buChar char="o"/>
              <a:tabLst>
                <a:tab pos="354965" algn="l"/>
              </a:tabLst>
            </a:pPr>
            <a:r>
              <a:rPr lang="en-GB" sz="1600" dirty="0">
                <a:latin typeface="Arial MT"/>
                <a:cs typeface="Arial MT"/>
              </a:rPr>
              <a:t>Performance</a:t>
            </a:r>
            <a:r>
              <a:rPr lang="en-GB" sz="1600" spc="360" dirty="0">
                <a:latin typeface="Arial MT"/>
                <a:cs typeface="Arial MT"/>
              </a:rPr>
              <a:t> </a:t>
            </a:r>
            <a:r>
              <a:rPr lang="en-GB" sz="1600" spc="-10" dirty="0">
                <a:latin typeface="Arial MT"/>
                <a:cs typeface="Arial MT"/>
              </a:rPr>
              <a:t>measures</a:t>
            </a:r>
          </a:p>
          <a:p>
            <a:pPr marL="355600" indent="-342900">
              <a:lnSpc>
                <a:spcPct val="100000"/>
              </a:lnSpc>
              <a:spcBef>
                <a:spcPts val="400"/>
              </a:spcBef>
              <a:buFont typeface="Courier New" panose="02070309020205020404" pitchFamily="49" charset="0"/>
              <a:buChar char="o"/>
              <a:tabLst>
                <a:tab pos="354965" algn="l"/>
              </a:tabLst>
            </a:pPr>
            <a:endParaRPr lang="en-GB" sz="200" dirty="0">
              <a:latin typeface="Arial MT"/>
              <a:cs typeface="Arial MT"/>
            </a:endParaRPr>
          </a:p>
          <a:p>
            <a:pPr marL="355600" indent="-342900">
              <a:lnSpc>
                <a:spcPct val="100000"/>
              </a:lnSpc>
              <a:spcBef>
                <a:spcPts val="400"/>
              </a:spcBef>
              <a:buFont typeface="Courier New" panose="02070309020205020404" pitchFamily="49" charset="0"/>
              <a:buChar char="o"/>
              <a:tabLst>
                <a:tab pos="354965" algn="l"/>
              </a:tabLst>
            </a:pPr>
            <a:r>
              <a:rPr lang="en-GB" sz="1600" dirty="0">
                <a:latin typeface="Arial MT"/>
                <a:cs typeface="Arial MT"/>
              </a:rPr>
              <a:t>Intelligent</a:t>
            </a:r>
            <a:r>
              <a:rPr lang="en-GB" sz="1600" spc="260" dirty="0">
                <a:latin typeface="Arial MT"/>
                <a:cs typeface="Arial MT"/>
              </a:rPr>
              <a:t> </a:t>
            </a:r>
            <a:r>
              <a:rPr lang="en-GB" sz="1600" spc="-10" dirty="0">
                <a:latin typeface="Arial MT"/>
                <a:cs typeface="Arial MT"/>
              </a:rPr>
              <a:t>Agents</a:t>
            </a:r>
          </a:p>
          <a:p>
            <a:pPr marL="355600" indent="-342900">
              <a:lnSpc>
                <a:spcPct val="100000"/>
              </a:lnSpc>
              <a:spcBef>
                <a:spcPts val="400"/>
              </a:spcBef>
              <a:buFont typeface="Courier New" panose="02070309020205020404" pitchFamily="49" charset="0"/>
              <a:buChar char="o"/>
              <a:tabLst>
                <a:tab pos="354965" algn="l"/>
              </a:tabLst>
            </a:pPr>
            <a:endParaRPr lang="en-GB" sz="200" dirty="0">
              <a:latin typeface="Arial MT"/>
              <a:cs typeface="Arial MT"/>
            </a:endParaRPr>
          </a:p>
          <a:p>
            <a:pPr marL="355600" indent="-342900">
              <a:lnSpc>
                <a:spcPct val="100000"/>
              </a:lnSpc>
              <a:spcBef>
                <a:spcPts val="400"/>
              </a:spcBef>
              <a:buFont typeface="Courier New" panose="02070309020205020404" pitchFamily="49" charset="0"/>
              <a:buChar char="o"/>
              <a:tabLst>
                <a:tab pos="354965" algn="l"/>
              </a:tabLst>
            </a:pPr>
            <a:r>
              <a:rPr lang="en-GB" sz="1600" dirty="0">
                <a:latin typeface="Arial MT"/>
                <a:cs typeface="Arial MT"/>
              </a:rPr>
              <a:t>Knowledge</a:t>
            </a:r>
            <a:r>
              <a:rPr lang="en-GB" sz="1600" spc="305" dirty="0">
                <a:latin typeface="Arial MT"/>
                <a:cs typeface="Arial MT"/>
              </a:rPr>
              <a:t> </a:t>
            </a:r>
            <a:r>
              <a:rPr lang="en-GB" sz="1600" spc="-10" dirty="0">
                <a:latin typeface="Arial MT"/>
                <a:cs typeface="Arial MT"/>
              </a:rPr>
              <a:t>Representation</a:t>
            </a:r>
          </a:p>
          <a:p>
            <a:pPr marL="355600" indent="-342900">
              <a:lnSpc>
                <a:spcPct val="100000"/>
              </a:lnSpc>
              <a:spcBef>
                <a:spcPts val="400"/>
              </a:spcBef>
              <a:buFont typeface="Courier New" panose="02070309020205020404" pitchFamily="49" charset="0"/>
              <a:buChar char="o"/>
              <a:tabLst>
                <a:tab pos="354965" algn="l"/>
              </a:tabLst>
            </a:pPr>
            <a:endParaRPr lang="en-GB" sz="200" dirty="0">
              <a:latin typeface="Arial MT"/>
              <a:cs typeface="Arial MT"/>
            </a:endParaRPr>
          </a:p>
          <a:p>
            <a:pPr marL="355600" indent="-342900">
              <a:lnSpc>
                <a:spcPct val="100000"/>
              </a:lnSpc>
              <a:spcBef>
                <a:spcPts val="400"/>
              </a:spcBef>
              <a:buFont typeface="Courier New" panose="02070309020205020404" pitchFamily="49" charset="0"/>
              <a:buChar char="o"/>
              <a:tabLst>
                <a:tab pos="354965" algn="l"/>
              </a:tabLst>
            </a:pPr>
            <a:r>
              <a:rPr lang="en-GB" sz="1600" dirty="0">
                <a:latin typeface="Arial MT"/>
                <a:cs typeface="Arial MT"/>
              </a:rPr>
              <a:t>Problem</a:t>
            </a:r>
            <a:r>
              <a:rPr lang="en-GB" sz="1600" spc="204" dirty="0">
                <a:latin typeface="Arial MT"/>
                <a:cs typeface="Arial MT"/>
              </a:rPr>
              <a:t> </a:t>
            </a:r>
            <a:r>
              <a:rPr lang="en-GB" sz="1600" dirty="0">
                <a:latin typeface="Arial MT"/>
                <a:cs typeface="Arial MT"/>
              </a:rPr>
              <a:t>solving</a:t>
            </a:r>
            <a:r>
              <a:rPr lang="en-GB" sz="1600" spc="204" dirty="0">
                <a:latin typeface="Arial MT"/>
                <a:cs typeface="Arial MT"/>
              </a:rPr>
              <a:t> </a:t>
            </a:r>
            <a:r>
              <a:rPr lang="en-GB" sz="1600" dirty="0">
                <a:latin typeface="Arial MT"/>
                <a:cs typeface="Arial MT"/>
              </a:rPr>
              <a:t>by</a:t>
            </a:r>
            <a:r>
              <a:rPr lang="en-GB" sz="1600" spc="165" dirty="0">
                <a:latin typeface="Arial MT"/>
                <a:cs typeface="Arial MT"/>
              </a:rPr>
              <a:t> </a:t>
            </a:r>
            <a:r>
              <a:rPr lang="en-GB" sz="1600" spc="-10" dirty="0">
                <a:latin typeface="Arial MT"/>
                <a:cs typeface="Arial MT"/>
              </a:rPr>
              <a:t>searching</a:t>
            </a:r>
            <a:endParaRPr lang="en-GB" sz="16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Uninformed</a:t>
            </a:r>
            <a:r>
              <a:rPr lang="en-GB" sz="1200" spc="310" dirty="0">
                <a:latin typeface="Arial MT"/>
                <a:cs typeface="Arial MT"/>
              </a:rPr>
              <a:t> </a:t>
            </a:r>
            <a:r>
              <a:rPr lang="en-GB" sz="1200" spc="-10" dirty="0">
                <a:latin typeface="Arial MT"/>
                <a:cs typeface="Arial MT"/>
              </a:rPr>
              <a:t>search</a:t>
            </a:r>
            <a:endParaRPr lang="en-GB" sz="12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Informed</a:t>
            </a:r>
            <a:r>
              <a:rPr lang="en-GB" sz="1200" spc="270" dirty="0">
                <a:latin typeface="Arial MT"/>
                <a:cs typeface="Arial MT"/>
              </a:rPr>
              <a:t> </a:t>
            </a:r>
            <a:r>
              <a:rPr lang="en-GB" sz="1200" spc="-10" dirty="0">
                <a:latin typeface="Arial MT"/>
                <a:cs typeface="Arial MT"/>
              </a:rPr>
              <a:t>search</a:t>
            </a:r>
            <a:endParaRPr lang="en-GB" sz="12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Evolutionary</a:t>
            </a:r>
            <a:r>
              <a:rPr lang="en-GB" sz="1200" spc="165" dirty="0">
                <a:latin typeface="Arial MT"/>
                <a:cs typeface="Arial MT"/>
              </a:rPr>
              <a:t> </a:t>
            </a:r>
            <a:r>
              <a:rPr lang="en-GB" sz="1200" spc="-10" dirty="0">
                <a:latin typeface="Arial MT"/>
                <a:cs typeface="Arial MT"/>
              </a:rPr>
              <a:t>Algorithms</a:t>
            </a:r>
            <a:endParaRPr lang="en-GB" sz="1200" dirty="0">
              <a:latin typeface="Arial MT"/>
              <a:cs typeface="Arial MT"/>
            </a:endParaRPr>
          </a:p>
          <a:p>
            <a:pPr marL="426720" indent="-414020">
              <a:lnSpc>
                <a:spcPct val="100000"/>
              </a:lnSpc>
              <a:spcBef>
                <a:spcPts val="400"/>
              </a:spcBef>
              <a:buFont typeface="Courier New" panose="02070309020205020404" pitchFamily="49" charset="0"/>
              <a:buChar char="o"/>
              <a:tabLst>
                <a:tab pos="426720" algn="l"/>
              </a:tabLst>
            </a:pPr>
            <a:endParaRPr lang="en-GB" sz="200" dirty="0">
              <a:latin typeface="Arial MT"/>
              <a:cs typeface="Arial MT"/>
            </a:endParaRPr>
          </a:p>
          <a:p>
            <a:pPr marL="426720" indent="-414020">
              <a:lnSpc>
                <a:spcPct val="100000"/>
              </a:lnSpc>
              <a:spcBef>
                <a:spcPts val="400"/>
              </a:spcBef>
              <a:buFont typeface="Courier New" panose="02070309020205020404" pitchFamily="49" charset="0"/>
              <a:buChar char="o"/>
              <a:tabLst>
                <a:tab pos="426720" algn="l"/>
              </a:tabLst>
            </a:pPr>
            <a:r>
              <a:rPr lang="en-GB" sz="1600" dirty="0">
                <a:latin typeface="Arial MT"/>
                <a:cs typeface="Arial MT"/>
              </a:rPr>
              <a:t>Machine</a:t>
            </a:r>
            <a:r>
              <a:rPr lang="en-GB" sz="1600" spc="229" dirty="0">
                <a:latin typeface="Arial MT"/>
                <a:cs typeface="Arial MT"/>
              </a:rPr>
              <a:t> </a:t>
            </a:r>
            <a:r>
              <a:rPr lang="en-GB" sz="1600" spc="-10" dirty="0">
                <a:latin typeface="Arial MT"/>
                <a:cs typeface="Arial MT"/>
              </a:rPr>
              <a:t>Learning</a:t>
            </a:r>
            <a:endParaRPr lang="en-GB" sz="16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Supervised</a:t>
            </a:r>
            <a:r>
              <a:rPr lang="en-GB" sz="1200" spc="310" dirty="0">
                <a:latin typeface="Arial MT"/>
                <a:cs typeface="Arial MT"/>
              </a:rPr>
              <a:t> </a:t>
            </a:r>
            <a:r>
              <a:rPr lang="en-GB" sz="1200" dirty="0">
                <a:latin typeface="Arial MT"/>
                <a:cs typeface="Arial MT"/>
              </a:rPr>
              <a:t>learning</a:t>
            </a:r>
            <a:r>
              <a:rPr lang="en-GB" sz="1200" spc="285" dirty="0">
                <a:latin typeface="Arial MT"/>
                <a:cs typeface="Arial MT"/>
              </a:rPr>
              <a:t> vs.</a:t>
            </a:r>
            <a:r>
              <a:rPr lang="en-GB" sz="1200" spc="270" dirty="0">
                <a:latin typeface="Arial MT"/>
                <a:cs typeface="Arial MT"/>
              </a:rPr>
              <a:t> </a:t>
            </a:r>
            <a:r>
              <a:rPr lang="en-GB" sz="1200" dirty="0">
                <a:latin typeface="Arial MT"/>
                <a:cs typeface="Arial MT"/>
              </a:rPr>
              <a:t>Unsupervised</a:t>
            </a:r>
            <a:r>
              <a:rPr lang="en-GB" sz="1200" spc="320" dirty="0">
                <a:latin typeface="Arial MT"/>
                <a:cs typeface="Arial MT"/>
              </a:rPr>
              <a:t> </a:t>
            </a:r>
            <a:r>
              <a:rPr lang="en-GB" sz="1200" spc="-10" dirty="0">
                <a:latin typeface="Arial MT"/>
                <a:cs typeface="Arial MT"/>
              </a:rPr>
              <a:t>learning</a:t>
            </a:r>
            <a:endParaRPr lang="en-GB" sz="12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Decision</a:t>
            </a:r>
            <a:r>
              <a:rPr lang="en-GB" sz="1200" spc="245" dirty="0">
                <a:latin typeface="Arial MT"/>
                <a:cs typeface="Arial MT"/>
              </a:rPr>
              <a:t> </a:t>
            </a:r>
            <a:r>
              <a:rPr lang="en-GB" sz="1200" spc="-20" dirty="0">
                <a:latin typeface="Arial MT"/>
                <a:cs typeface="Arial MT"/>
              </a:rPr>
              <a:t>trees</a:t>
            </a:r>
            <a:endParaRPr lang="en-GB" sz="12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Neural</a:t>
            </a:r>
            <a:r>
              <a:rPr lang="en-GB" sz="1200" spc="210" dirty="0">
                <a:latin typeface="Arial MT"/>
                <a:cs typeface="Arial MT"/>
              </a:rPr>
              <a:t> </a:t>
            </a:r>
            <a:r>
              <a:rPr lang="en-GB" sz="1200" spc="-10" dirty="0">
                <a:latin typeface="Arial MT"/>
                <a:cs typeface="Arial MT"/>
              </a:rPr>
              <a:t>networks</a:t>
            </a:r>
            <a:endParaRPr lang="en-GB" sz="12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Support</a:t>
            </a:r>
            <a:r>
              <a:rPr lang="en-GB" sz="1200" spc="225" dirty="0">
                <a:latin typeface="Arial MT"/>
                <a:cs typeface="Arial MT"/>
              </a:rPr>
              <a:t> </a:t>
            </a:r>
            <a:r>
              <a:rPr lang="en-GB" sz="1200" dirty="0">
                <a:latin typeface="Arial MT"/>
                <a:cs typeface="Arial MT"/>
              </a:rPr>
              <a:t>vector</a:t>
            </a:r>
            <a:r>
              <a:rPr lang="en-GB" sz="1200" spc="235" dirty="0">
                <a:latin typeface="Arial MT"/>
                <a:cs typeface="Arial MT"/>
              </a:rPr>
              <a:t> </a:t>
            </a:r>
            <a:r>
              <a:rPr lang="en-GB" sz="1200" spc="-10" dirty="0">
                <a:latin typeface="Arial MT"/>
                <a:cs typeface="Arial MT"/>
              </a:rPr>
              <a:t>machines</a:t>
            </a:r>
            <a:endParaRPr lang="en-GB" sz="1200" dirty="0">
              <a:latin typeface="Arial MT"/>
              <a:cs typeface="Arial MT"/>
            </a:endParaRPr>
          </a:p>
          <a:p>
            <a:pPr marL="812800" lvl="1" indent="-342900">
              <a:lnSpc>
                <a:spcPct val="100000"/>
              </a:lnSpc>
              <a:spcBef>
                <a:spcPts val="400"/>
              </a:spcBef>
              <a:buFont typeface="Arial" panose="020B0604020202020204" pitchFamily="34" charset="0"/>
              <a:buChar char="•"/>
              <a:tabLst>
                <a:tab pos="812800" algn="l"/>
              </a:tabLst>
            </a:pPr>
            <a:r>
              <a:rPr lang="en-GB" sz="1200" dirty="0">
                <a:latin typeface="Arial MT"/>
                <a:cs typeface="Arial MT"/>
              </a:rPr>
              <a:t>Cross</a:t>
            </a:r>
            <a:r>
              <a:rPr lang="en-GB" sz="1200" spc="170" dirty="0">
                <a:latin typeface="Arial MT"/>
                <a:cs typeface="Arial MT"/>
              </a:rPr>
              <a:t> </a:t>
            </a:r>
            <a:r>
              <a:rPr lang="en-GB" sz="1200" spc="-10" dirty="0">
                <a:latin typeface="Arial MT"/>
                <a:cs typeface="Arial MT"/>
              </a:rPr>
              <a:t>validation</a:t>
            </a:r>
            <a:endParaRPr lang="en-GB" sz="1200" dirty="0">
              <a:latin typeface="Arial MT"/>
              <a:cs typeface="Arial MT"/>
            </a:endParaRPr>
          </a:p>
        </p:txBody>
      </p:sp>
      <p:sp>
        <p:nvSpPr>
          <p:cNvPr id="2" name="Slide Number Placeholder 1">
            <a:extLst>
              <a:ext uri="{FF2B5EF4-FFF2-40B4-BE49-F238E27FC236}">
                <a16:creationId xmlns:a16="http://schemas.microsoft.com/office/drawing/2014/main" id="{1C44C3FF-BB1E-34D7-D371-48BDB90F7B2B}"/>
              </a:ext>
            </a:extLst>
          </p:cNvPr>
          <p:cNvSpPr>
            <a:spLocks noGrp="1"/>
          </p:cNvSpPr>
          <p:nvPr>
            <p:ph type="sldNum" sz="quarter" idx="12"/>
          </p:nvPr>
        </p:nvSpPr>
        <p:spPr/>
        <p:txBody>
          <a:bodyPr/>
          <a:lstStyle/>
          <a:p>
            <a:fld id="{AA64B1FB-CC2F-4DD5-A068-EEAB847401EC}" type="slidenum">
              <a:rPr lang="en-GB" smtClean="0"/>
              <a:t>5</a:t>
            </a:fld>
            <a:endParaRPr lang="en-GB"/>
          </a:p>
        </p:txBody>
      </p:sp>
    </p:spTree>
    <p:extLst>
      <p:ext uri="{BB962C8B-B14F-4D97-AF65-F5344CB8AC3E}">
        <p14:creationId xmlns:p14="http://schemas.microsoft.com/office/powerpoint/2010/main" val="389436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CBA1B2-E8AF-20DB-6FC4-50F3F4DD4A84}"/>
              </a:ext>
            </a:extLst>
          </p:cNvPr>
          <p:cNvSpPr txBox="1">
            <a:spLocks/>
          </p:cNvSpPr>
          <p:nvPr/>
        </p:nvSpPr>
        <p:spPr>
          <a:xfrm>
            <a:off x="604474" y="697819"/>
            <a:ext cx="4347709"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dirty="0">
                <a:solidFill>
                  <a:schemeClr val="bg2">
                    <a:lumMod val="50000"/>
                  </a:schemeClr>
                </a:solidFill>
                <a:latin typeface="Arial"/>
              </a:rPr>
              <a:t>Course Logistics</a:t>
            </a:r>
          </a:p>
        </p:txBody>
      </p:sp>
      <p:grpSp>
        <p:nvGrpSpPr>
          <p:cNvPr id="39" name="Group 38">
            <a:extLst>
              <a:ext uri="{FF2B5EF4-FFF2-40B4-BE49-F238E27FC236}">
                <a16:creationId xmlns:a16="http://schemas.microsoft.com/office/drawing/2014/main" id="{2B1B4575-E04E-B33C-23D7-E439C3CC3965}"/>
              </a:ext>
            </a:extLst>
          </p:cNvPr>
          <p:cNvGrpSpPr/>
          <p:nvPr/>
        </p:nvGrpSpPr>
        <p:grpSpPr>
          <a:xfrm>
            <a:off x="623524" y="1668311"/>
            <a:ext cx="10844576" cy="2150935"/>
            <a:chOff x="680674" y="1639308"/>
            <a:chExt cx="10844576" cy="2150935"/>
          </a:xfrm>
        </p:grpSpPr>
        <p:grpSp>
          <p:nvGrpSpPr>
            <p:cNvPr id="9" name="Group 8">
              <a:extLst>
                <a:ext uri="{FF2B5EF4-FFF2-40B4-BE49-F238E27FC236}">
                  <a16:creationId xmlns:a16="http://schemas.microsoft.com/office/drawing/2014/main" id="{44B4A939-3C51-446F-71B9-28BFA77CA190}"/>
                </a:ext>
              </a:extLst>
            </p:cNvPr>
            <p:cNvGrpSpPr/>
            <p:nvPr/>
          </p:nvGrpSpPr>
          <p:grpSpPr>
            <a:xfrm>
              <a:off x="680674" y="1639317"/>
              <a:ext cx="4824776" cy="2150926"/>
              <a:chOff x="557425" y="2308955"/>
              <a:chExt cx="3662405" cy="1632732"/>
            </a:xfrm>
          </p:grpSpPr>
          <p:sp>
            <p:nvSpPr>
              <p:cNvPr id="16" name="TextBox 15">
                <a:extLst>
                  <a:ext uri="{FF2B5EF4-FFF2-40B4-BE49-F238E27FC236}">
                    <a16:creationId xmlns:a16="http://schemas.microsoft.com/office/drawing/2014/main" id="{539B9877-6F8C-1CAE-C37B-819A8D903451}"/>
                  </a:ext>
                </a:extLst>
              </p:cNvPr>
              <p:cNvSpPr txBox="1"/>
              <p:nvPr/>
            </p:nvSpPr>
            <p:spPr>
              <a:xfrm>
                <a:off x="593576" y="2773547"/>
                <a:ext cx="3626254" cy="1168140"/>
              </a:xfrm>
              <a:prstGeom prst="rect">
                <a:avLst/>
              </a:prstGeom>
              <a:noFill/>
            </p:spPr>
            <p:txBody>
              <a:bodyPr wrap="square" rtlCol="0">
                <a:spAutoFit/>
              </a:bodyPr>
              <a:lstStyle/>
              <a:p>
                <a:pPr algn="just"/>
                <a:r>
                  <a:rPr lang="en-GB" altLang="ko-KR" sz="1400" dirty="0">
                    <a:solidFill>
                      <a:schemeClr val="tx1">
                        <a:lumMod val="85000"/>
                        <a:lumOff val="15000"/>
                      </a:schemeClr>
                    </a:solidFill>
                  </a:rPr>
                  <a:t>Stuart J. Russell and Peter Norvig, </a:t>
                </a:r>
                <a:r>
                  <a:rPr lang="en-GB" altLang="ko-KR" sz="1400" b="1" dirty="0">
                    <a:solidFill>
                      <a:schemeClr val="tx1">
                        <a:lumMod val="85000"/>
                        <a:lumOff val="15000"/>
                      </a:schemeClr>
                    </a:solidFill>
                  </a:rPr>
                  <a:t>Artificial Intelligence: A Modern Approach</a:t>
                </a:r>
                <a:r>
                  <a:rPr lang="en-GB" altLang="ko-KR" sz="1400" dirty="0">
                    <a:solidFill>
                      <a:schemeClr val="tx1">
                        <a:lumMod val="85000"/>
                        <a:lumOff val="15000"/>
                      </a:schemeClr>
                    </a:solidFill>
                  </a:rPr>
                  <a:t>, 3rd Edition (2010), by Pearson Education Inc.</a:t>
                </a:r>
              </a:p>
              <a:p>
                <a:pPr algn="just"/>
                <a:endParaRPr lang="en-GB" altLang="ko-KR" sz="800" dirty="0">
                  <a:solidFill>
                    <a:schemeClr val="tx1">
                      <a:lumMod val="85000"/>
                      <a:lumOff val="15000"/>
                    </a:schemeClr>
                  </a:solidFill>
                </a:endParaRPr>
              </a:p>
              <a:p>
                <a:pPr algn="just"/>
                <a:r>
                  <a:rPr lang="en-GB" altLang="ko-KR" sz="1400" dirty="0">
                    <a:solidFill>
                      <a:schemeClr val="tx1">
                        <a:lumMod val="85000"/>
                        <a:lumOff val="15000"/>
                      </a:schemeClr>
                    </a:solidFill>
                  </a:rPr>
                  <a:t>George F. Luger, </a:t>
                </a:r>
                <a:r>
                  <a:rPr lang="en-GB" altLang="ko-KR" sz="1400" b="1" dirty="0">
                    <a:solidFill>
                      <a:schemeClr val="tx1">
                        <a:lumMod val="85000"/>
                        <a:lumOff val="15000"/>
                      </a:schemeClr>
                    </a:solidFill>
                  </a:rPr>
                  <a:t>Artificial Intelligence: Structures and strategies for complex problem solving</a:t>
                </a:r>
                <a:r>
                  <a:rPr lang="en-GB" altLang="ko-KR" sz="1400" dirty="0">
                    <a:solidFill>
                      <a:schemeClr val="tx1">
                        <a:lumMod val="85000"/>
                        <a:lumOff val="15000"/>
                      </a:schemeClr>
                    </a:solidFill>
                  </a:rPr>
                  <a:t>, 5th Edition (2005), Pearson Education Limited.</a:t>
                </a:r>
              </a:p>
            </p:txBody>
          </p:sp>
          <p:sp>
            <p:nvSpPr>
              <p:cNvPr id="12" name="TextBox 11">
                <a:extLst>
                  <a:ext uri="{FF2B5EF4-FFF2-40B4-BE49-F238E27FC236}">
                    <a16:creationId xmlns:a16="http://schemas.microsoft.com/office/drawing/2014/main" id="{1F3C26E6-CC7D-0357-6767-406EC4DC6A1C}"/>
                  </a:ext>
                </a:extLst>
              </p:cNvPr>
              <p:cNvSpPr txBox="1"/>
              <p:nvPr/>
            </p:nvSpPr>
            <p:spPr>
              <a:xfrm>
                <a:off x="557425" y="2308955"/>
                <a:ext cx="2359840" cy="397167"/>
              </a:xfrm>
              <a:prstGeom prst="rect">
                <a:avLst/>
              </a:prstGeom>
              <a:noFill/>
            </p:spPr>
            <p:txBody>
              <a:bodyPr wrap="square">
                <a:spAutoFit/>
              </a:bodyPr>
              <a:lstStyle/>
              <a:p>
                <a:pPr algn="l"/>
                <a:r>
                  <a:rPr lang="en-GB" sz="2800" b="1" i="0" dirty="0">
                    <a:solidFill>
                      <a:srgbClr val="5A9BD5"/>
                    </a:solidFill>
                    <a:effectLst/>
                  </a:rPr>
                  <a:t>Required Resources</a:t>
                </a:r>
                <a:endParaRPr lang="en-GB" sz="2800" b="0" i="0" dirty="0">
                  <a:solidFill>
                    <a:srgbClr val="5A9BD5"/>
                  </a:solidFill>
                  <a:effectLst/>
                </a:endParaRPr>
              </a:p>
            </p:txBody>
          </p:sp>
        </p:grpSp>
        <p:grpSp>
          <p:nvGrpSpPr>
            <p:cNvPr id="27" name="Group 26">
              <a:extLst>
                <a:ext uri="{FF2B5EF4-FFF2-40B4-BE49-F238E27FC236}">
                  <a16:creationId xmlns:a16="http://schemas.microsoft.com/office/drawing/2014/main" id="{76FD7FC5-2E83-FBF8-88D7-0B119D8B1190}"/>
                </a:ext>
              </a:extLst>
            </p:cNvPr>
            <p:cNvGrpSpPr/>
            <p:nvPr/>
          </p:nvGrpSpPr>
          <p:grpSpPr>
            <a:xfrm>
              <a:off x="6043976" y="1639308"/>
              <a:ext cx="5481274" cy="2103304"/>
              <a:chOff x="-476504" y="2374026"/>
              <a:chExt cx="4160742" cy="1596584"/>
            </a:xfrm>
          </p:grpSpPr>
          <p:sp>
            <p:nvSpPr>
              <p:cNvPr id="28" name="TextBox 27">
                <a:extLst>
                  <a:ext uri="{FF2B5EF4-FFF2-40B4-BE49-F238E27FC236}">
                    <a16:creationId xmlns:a16="http://schemas.microsoft.com/office/drawing/2014/main" id="{93DFC006-4E80-5742-9A92-A384BF51250F}"/>
                  </a:ext>
                </a:extLst>
              </p:cNvPr>
              <p:cNvSpPr txBox="1"/>
              <p:nvPr/>
            </p:nvSpPr>
            <p:spPr>
              <a:xfrm>
                <a:off x="-440354" y="2802470"/>
                <a:ext cx="4124592" cy="1168140"/>
              </a:xfrm>
              <a:prstGeom prst="rect">
                <a:avLst/>
              </a:prstGeom>
              <a:noFill/>
            </p:spPr>
            <p:txBody>
              <a:bodyPr wrap="square" rtlCol="0">
                <a:spAutoFit/>
              </a:bodyPr>
              <a:lstStyle/>
              <a:p>
                <a:pPr algn="just"/>
                <a:r>
                  <a:rPr lang="en-GB" altLang="ko-KR" sz="1400" dirty="0">
                    <a:solidFill>
                      <a:schemeClr val="tx1">
                        <a:lumMod val="85000"/>
                        <a:lumOff val="15000"/>
                      </a:schemeClr>
                    </a:solidFill>
                  </a:rPr>
                  <a:t>Wolfgang Ertel, </a:t>
                </a:r>
                <a:r>
                  <a:rPr lang="en-GB" altLang="ko-KR" sz="1400" b="1" dirty="0">
                    <a:solidFill>
                      <a:schemeClr val="tx1">
                        <a:lumMod val="85000"/>
                        <a:lumOff val="15000"/>
                      </a:schemeClr>
                    </a:solidFill>
                  </a:rPr>
                  <a:t>Introduction to Artificial Intelligence</a:t>
                </a:r>
                <a:r>
                  <a:rPr lang="en-GB" altLang="ko-KR" sz="1400" dirty="0">
                    <a:solidFill>
                      <a:schemeClr val="tx1">
                        <a:lumMod val="85000"/>
                        <a:lumOff val="15000"/>
                      </a:schemeClr>
                    </a:solidFill>
                  </a:rPr>
                  <a:t>, 2nd Edition (2017)</a:t>
                </a:r>
              </a:p>
              <a:p>
                <a:pPr algn="just"/>
                <a:endParaRPr lang="en-GB" altLang="ko-KR" sz="800" dirty="0">
                  <a:solidFill>
                    <a:schemeClr val="tx1">
                      <a:lumMod val="85000"/>
                      <a:lumOff val="15000"/>
                    </a:schemeClr>
                  </a:solidFill>
                </a:endParaRPr>
              </a:p>
              <a:p>
                <a:pPr algn="just"/>
                <a:r>
                  <a:rPr lang="en-GB" altLang="ko-KR" sz="1400" dirty="0">
                    <a:solidFill>
                      <a:schemeClr val="tx1">
                        <a:lumMod val="85000"/>
                        <a:lumOff val="15000"/>
                      </a:schemeClr>
                    </a:solidFill>
                  </a:rPr>
                  <a:t>Miroslav Kubat, </a:t>
                </a:r>
                <a:r>
                  <a:rPr lang="en-GB" altLang="ko-KR" sz="1400" b="1" dirty="0">
                    <a:solidFill>
                      <a:schemeClr val="tx1">
                        <a:lumMod val="85000"/>
                        <a:lumOff val="15000"/>
                      </a:schemeClr>
                    </a:solidFill>
                  </a:rPr>
                  <a:t>An Introduction to Machine Learning</a:t>
                </a:r>
                <a:r>
                  <a:rPr lang="en-GB" altLang="ko-KR" sz="1400" dirty="0">
                    <a:solidFill>
                      <a:schemeClr val="tx1">
                        <a:lumMod val="85000"/>
                        <a:lumOff val="15000"/>
                      </a:schemeClr>
                    </a:solidFill>
                  </a:rPr>
                  <a:t>, 2nd Edition (2017)</a:t>
                </a:r>
              </a:p>
              <a:p>
                <a:pPr algn="just"/>
                <a:endParaRPr lang="en-GB" altLang="ko-KR" sz="800" dirty="0">
                  <a:solidFill>
                    <a:schemeClr val="tx1">
                      <a:lumMod val="85000"/>
                      <a:lumOff val="15000"/>
                    </a:schemeClr>
                  </a:solidFill>
                </a:endParaRPr>
              </a:p>
              <a:p>
                <a:pPr algn="just"/>
                <a:r>
                  <a:rPr lang="en-GB" altLang="ko-KR" sz="1400" dirty="0">
                    <a:solidFill>
                      <a:schemeClr val="tx1">
                        <a:lumMod val="85000"/>
                        <a:lumOff val="15000"/>
                      </a:schemeClr>
                    </a:solidFill>
                  </a:rPr>
                  <a:t>Y. Abu-Mostafa, M. </a:t>
                </a:r>
                <a:r>
                  <a:rPr lang="en-GB" altLang="ko-KR" sz="1400" dirty="0" err="1">
                    <a:solidFill>
                      <a:schemeClr val="tx1">
                        <a:lumMod val="85000"/>
                        <a:lumOff val="15000"/>
                      </a:schemeClr>
                    </a:solidFill>
                  </a:rPr>
                  <a:t>Magdon</a:t>
                </a:r>
                <a:r>
                  <a:rPr lang="en-GB" altLang="ko-KR" sz="1400" dirty="0">
                    <a:solidFill>
                      <a:schemeClr val="tx1">
                        <a:lumMod val="85000"/>
                        <a:lumOff val="15000"/>
                      </a:schemeClr>
                    </a:solidFill>
                  </a:rPr>
                  <a:t>-Ismail, &amp; H-T. Lin, </a:t>
                </a:r>
                <a:r>
                  <a:rPr lang="en-GB" altLang="ko-KR" sz="1400" b="1" dirty="0">
                    <a:solidFill>
                      <a:schemeClr val="tx1">
                        <a:lumMod val="85000"/>
                        <a:lumOff val="15000"/>
                      </a:schemeClr>
                    </a:solidFill>
                  </a:rPr>
                  <a:t>Learning from Data - A Short Course</a:t>
                </a:r>
                <a:r>
                  <a:rPr lang="en-GB" altLang="ko-KR" sz="1400" dirty="0">
                    <a:solidFill>
                      <a:schemeClr val="tx1">
                        <a:lumMod val="85000"/>
                        <a:lumOff val="15000"/>
                      </a:schemeClr>
                    </a:solidFill>
                  </a:rPr>
                  <a:t>, (2012)</a:t>
                </a:r>
              </a:p>
              <a:p>
                <a:pPr algn="just"/>
                <a:endParaRPr lang="en-GB" altLang="ko-KR" sz="800" dirty="0">
                  <a:solidFill>
                    <a:schemeClr val="tx1">
                      <a:lumMod val="85000"/>
                      <a:lumOff val="15000"/>
                    </a:schemeClr>
                  </a:solidFill>
                </a:endParaRPr>
              </a:p>
              <a:p>
                <a:pPr algn="just"/>
                <a:r>
                  <a:rPr lang="en-GB" altLang="ko-KR" sz="1400" dirty="0">
                    <a:solidFill>
                      <a:schemeClr val="tx1">
                        <a:lumMod val="85000"/>
                        <a:lumOff val="15000"/>
                      </a:schemeClr>
                    </a:solidFill>
                  </a:rPr>
                  <a:t>Max Bramer, </a:t>
                </a:r>
                <a:r>
                  <a:rPr lang="en-GB" altLang="ko-KR" sz="1400" b="1" dirty="0">
                    <a:solidFill>
                      <a:schemeClr val="tx1">
                        <a:lumMod val="85000"/>
                        <a:lumOff val="15000"/>
                      </a:schemeClr>
                    </a:solidFill>
                  </a:rPr>
                  <a:t>Principles of Data Mining</a:t>
                </a:r>
                <a:r>
                  <a:rPr lang="en-GB" altLang="ko-KR" sz="1400" dirty="0">
                    <a:solidFill>
                      <a:schemeClr val="tx1">
                        <a:lumMod val="85000"/>
                        <a:lumOff val="15000"/>
                      </a:schemeClr>
                    </a:solidFill>
                  </a:rPr>
                  <a:t>, 3rd Edition (2016)</a:t>
                </a:r>
              </a:p>
            </p:txBody>
          </p:sp>
          <p:sp>
            <p:nvSpPr>
              <p:cNvPr id="30" name="TextBox 29">
                <a:extLst>
                  <a:ext uri="{FF2B5EF4-FFF2-40B4-BE49-F238E27FC236}">
                    <a16:creationId xmlns:a16="http://schemas.microsoft.com/office/drawing/2014/main" id="{9728574C-027E-F595-361E-BB5992A821EA}"/>
                  </a:ext>
                </a:extLst>
              </p:cNvPr>
              <p:cNvSpPr txBox="1"/>
              <p:nvPr/>
            </p:nvSpPr>
            <p:spPr>
              <a:xfrm>
                <a:off x="-476504" y="2374026"/>
                <a:ext cx="2577783" cy="397167"/>
              </a:xfrm>
              <a:prstGeom prst="rect">
                <a:avLst/>
              </a:prstGeom>
              <a:noFill/>
            </p:spPr>
            <p:txBody>
              <a:bodyPr wrap="square">
                <a:spAutoFit/>
              </a:bodyPr>
              <a:lstStyle/>
              <a:p>
                <a:pPr algn="l"/>
                <a:r>
                  <a:rPr lang="en-GB" sz="2800" b="1" i="0" dirty="0">
                    <a:solidFill>
                      <a:srgbClr val="5A9BD5"/>
                    </a:solidFill>
                    <a:effectLst/>
                  </a:rPr>
                  <a:t>Additional Textbooks</a:t>
                </a:r>
                <a:endParaRPr lang="en-GB" sz="2800" b="0" i="0" dirty="0">
                  <a:solidFill>
                    <a:srgbClr val="5A9BD5"/>
                  </a:solidFill>
                  <a:effectLst/>
                </a:endParaRPr>
              </a:p>
            </p:txBody>
          </p:sp>
        </p:grpSp>
      </p:grpSp>
      <p:grpSp>
        <p:nvGrpSpPr>
          <p:cNvPr id="42" name="Group 41">
            <a:extLst>
              <a:ext uri="{FF2B5EF4-FFF2-40B4-BE49-F238E27FC236}">
                <a16:creationId xmlns:a16="http://schemas.microsoft.com/office/drawing/2014/main" id="{4D4D37E5-343E-FAFA-BDC1-FBC5B0FDA6E5}"/>
              </a:ext>
            </a:extLst>
          </p:cNvPr>
          <p:cNvGrpSpPr/>
          <p:nvPr/>
        </p:nvGrpSpPr>
        <p:grpSpPr>
          <a:xfrm>
            <a:off x="670412" y="3895725"/>
            <a:ext cx="10969397" cy="2418531"/>
            <a:chOff x="689462" y="1438275"/>
            <a:chExt cx="10969397" cy="2418531"/>
          </a:xfrm>
        </p:grpSpPr>
        <p:grpSp>
          <p:nvGrpSpPr>
            <p:cNvPr id="31" name="Group 30">
              <a:extLst>
                <a:ext uri="{FF2B5EF4-FFF2-40B4-BE49-F238E27FC236}">
                  <a16:creationId xmlns:a16="http://schemas.microsoft.com/office/drawing/2014/main" id="{FA60BB33-4C44-E1F1-2559-6752C8C05A83}"/>
                </a:ext>
              </a:extLst>
            </p:cNvPr>
            <p:cNvGrpSpPr/>
            <p:nvPr/>
          </p:nvGrpSpPr>
          <p:grpSpPr>
            <a:xfrm>
              <a:off x="689462" y="1645808"/>
              <a:ext cx="6473338" cy="2002862"/>
              <a:chOff x="564096" y="2122558"/>
              <a:chExt cx="4913802" cy="1520340"/>
            </a:xfrm>
          </p:grpSpPr>
          <p:sp>
            <p:nvSpPr>
              <p:cNvPr id="32" name="TextBox 31">
                <a:extLst>
                  <a:ext uri="{FF2B5EF4-FFF2-40B4-BE49-F238E27FC236}">
                    <a16:creationId xmlns:a16="http://schemas.microsoft.com/office/drawing/2014/main" id="{8421B13E-05F0-E5B7-2D63-10805B750146}"/>
                  </a:ext>
                </a:extLst>
              </p:cNvPr>
              <p:cNvSpPr txBox="1"/>
              <p:nvPr/>
            </p:nvSpPr>
            <p:spPr>
              <a:xfrm>
                <a:off x="624442" y="2614935"/>
                <a:ext cx="4602341" cy="1027963"/>
              </a:xfrm>
              <a:prstGeom prst="rect">
                <a:avLst/>
              </a:prstGeom>
              <a:noFill/>
            </p:spPr>
            <p:txBody>
              <a:bodyPr wrap="square" rtlCol="0">
                <a:spAutoFit/>
              </a:bodyPr>
              <a:lstStyle/>
              <a:p>
                <a:r>
                  <a:rPr lang="en-GB" altLang="ko-KR" sz="1400" dirty="0">
                    <a:solidFill>
                      <a:schemeClr val="tx1">
                        <a:lumMod val="85000"/>
                        <a:lumOff val="15000"/>
                      </a:schemeClr>
                    </a:solidFill>
                  </a:rPr>
                  <a:t>Intelligent Systems, </a:t>
                </a:r>
                <a:r>
                  <a:rPr lang="en-GB" altLang="ko-KR" sz="1400" b="1" dirty="0">
                    <a:solidFill>
                      <a:schemeClr val="tx1">
                        <a:lumMod val="85000"/>
                        <a:lumOff val="15000"/>
                      </a:schemeClr>
                    </a:solidFill>
                  </a:rPr>
                  <a:t>University of British Columbia</a:t>
                </a:r>
                <a:r>
                  <a:rPr lang="en-GB" altLang="ko-KR" sz="1400" dirty="0">
                    <a:solidFill>
                      <a:schemeClr val="tx1">
                        <a:lumMod val="85000"/>
                        <a:lumOff val="15000"/>
                      </a:schemeClr>
                    </a:solidFill>
                  </a:rPr>
                  <a:t>	(Dept. of Computer Science)</a:t>
                </a:r>
              </a:p>
              <a:p>
                <a:endParaRPr lang="en-GB" altLang="ko-KR" sz="800" dirty="0">
                  <a:solidFill>
                    <a:schemeClr val="tx1">
                      <a:lumMod val="85000"/>
                      <a:lumOff val="15000"/>
                    </a:schemeClr>
                  </a:solidFill>
                </a:endParaRPr>
              </a:p>
              <a:p>
                <a:r>
                  <a:rPr lang="en-GB" altLang="ko-KR" sz="1400" dirty="0">
                    <a:solidFill>
                      <a:schemeClr val="tx1">
                        <a:lumMod val="85000"/>
                        <a:lumOff val="15000"/>
                      </a:schemeClr>
                    </a:solidFill>
                  </a:rPr>
                  <a:t>Introduction	to Artificial Intelligence, </a:t>
                </a:r>
                <a:r>
                  <a:rPr lang="en-GB" altLang="ko-KR" sz="1400" b="1" dirty="0">
                    <a:solidFill>
                      <a:schemeClr val="tx1">
                        <a:lumMod val="85000"/>
                        <a:lumOff val="15000"/>
                      </a:schemeClr>
                    </a:solidFill>
                  </a:rPr>
                  <a:t>University of Wisconsin-Madison</a:t>
                </a:r>
              </a:p>
              <a:p>
                <a:endParaRPr lang="en-GB" altLang="ko-KR" sz="800" dirty="0">
                  <a:solidFill>
                    <a:schemeClr val="tx1">
                      <a:lumMod val="85000"/>
                      <a:lumOff val="15000"/>
                    </a:schemeClr>
                  </a:solidFill>
                </a:endParaRPr>
              </a:p>
              <a:p>
                <a:r>
                  <a:rPr lang="en-GB" altLang="ko-KR" sz="1400" dirty="0">
                    <a:solidFill>
                      <a:schemeClr val="tx1">
                        <a:lumMod val="85000"/>
                        <a:lumOff val="15000"/>
                      </a:schemeClr>
                    </a:solidFill>
                  </a:rPr>
                  <a:t>Artificial Intelligence, </a:t>
                </a:r>
                <a:r>
                  <a:rPr lang="en-GB" altLang="ko-KR" sz="1400" b="1" dirty="0">
                    <a:solidFill>
                      <a:schemeClr val="tx1">
                        <a:lumMod val="85000"/>
                        <a:lumOff val="15000"/>
                      </a:schemeClr>
                    </a:solidFill>
                  </a:rPr>
                  <a:t>University of Illinois at Urbana-Champaign</a:t>
                </a:r>
              </a:p>
              <a:p>
                <a:endParaRPr lang="en-GB" altLang="ko-KR" sz="800" b="1" dirty="0">
                  <a:solidFill>
                    <a:schemeClr val="tx1">
                      <a:lumMod val="85000"/>
                      <a:lumOff val="15000"/>
                    </a:schemeClr>
                  </a:solidFill>
                </a:endParaRPr>
              </a:p>
              <a:p>
                <a:r>
                  <a:rPr lang="en-GB" altLang="ko-KR" sz="1400" dirty="0">
                    <a:solidFill>
                      <a:schemeClr val="tx1">
                        <a:lumMod val="85000"/>
                        <a:lumOff val="15000"/>
                      </a:schemeClr>
                    </a:solidFill>
                  </a:rPr>
                  <a:t>Artificial Intelligence, </a:t>
                </a:r>
                <a:r>
                  <a:rPr lang="en-GB" altLang="ko-KR" sz="1400" b="1" dirty="0">
                    <a:solidFill>
                      <a:schemeClr val="tx1">
                        <a:lumMod val="85000"/>
                        <a:lumOff val="15000"/>
                      </a:schemeClr>
                    </a:solidFill>
                  </a:rPr>
                  <a:t>University of California, Berkeley</a:t>
                </a:r>
              </a:p>
            </p:txBody>
          </p:sp>
          <p:sp>
            <p:nvSpPr>
              <p:cNvPr id="34" name="TextBox 33">
                <a:extLst>
                  <a:ext uri="{FF2B5EF4-FFF2-40B4-BE49-F238E27FC236}">
                    <a16:creationId xmlns:a16="http://schemas.microsoft.com/office/drawing/2014/main" id="{61DA2B83-9814-3DFD-888D-C1022F978570}"/>
                  </a:ext>
                </a:extLst>
              </p:cNvPr>
              <p:cNvSpPr txBox="1"/>
              <p:nvPr/>
            </p:nvSpPr>
            <p:spPr>
              <a:xfrm>
                <a:off x="564096" y="2122558"/>
                <a:ext cx="4913802" cy="397168"/>
              </a:xfrm>
              <a:prstGeom prst="rect">
                <a:avLst/>
              </a:prstGeom>
              <a:noFill/>
            </p:spPr>
            <p:txBody>
              <a:bodyPr wrap="square">
                <a:spAutoFit/>
              </a:bodyPr>
              <a:lstStyle/>
              <a:p>
                <a:pPr algn="l"/>
                <a:r>
                  <a:rPr lang="en-GB" sz="2800" b="1" i="0" dirty="0">
                    <a:solidFill>
                      <a:srgbClr val="5A9BD5"/>
                    </a:solidFill>
                    <a:effectLst/>
                  </a:rPr>
                  <a:t>Courses are based on their counterparts in</a:t>
                </a:r>
                <a:endParaRPr lang="en-GB" sz="2800" b="0" i="0" dirty="0">
                  <a:solidFill>
                    <a:srgbClr val="5A9BD5"/>
                  </a:solidFill>
                  <a:effectLst/>
                </a:endParaRPr>
              </a:p>
            </p:txBody>
          </p:sp>
        </p:grpSp>
        <p:pic>
          <p:nvPicPr>
            <p:cNvPr id="41" name="Picture 40">
              <a:extLst>
                <a:ext uri="{FF2B5EF4-FFF2-40B4-BE49-F238E27FC236}">
                  <a16:creationId xmlns:a16="http://schemas.microsoft.com/office/drawing/2014/main" id="{E58AA342-56C4-AC18-2C85-8BDB2D1B4518}"/>
                </a:ext>
              </a:extLst>
            </p:cNvPr>
            <p:cNvPicPr>
              <a:picLocks noChangeAspect="1"/>
            </p:cNvPicPr>
            <p:nvPr/>
          </p:nvPicPr>
          <p:blipFill>
            <a:blip r:embed="rId2"/>
            <a:stretch>
              <a:fillRect/>
            </a:stretch>
          </p:blipFill>
          <p:spPr>
            <a:xfrm>
              <a:off x="7983210" y="1438275"/>
              <a:ext cx="3675649" cy="2418531"/>
            </a:xfrm>
            <a:prstGeom prst="rect">
              <a:avLst/>
            </a:prstGeom>
          </p:spPr>
        </p:pic>
      </p:grpSp>
      <p:sp>
        <p:nvSpPr>
          <p:cNvPr id="43" name="Slide Number Placeholder 42">
            <a:extLst>
              <a:ext uri="{FF2B5EF4-FFF2-40B4-BE49-F238E27FC236}">
                <a16:creationId xmlns:a16="http://schemas.microsoft.com/office/drawing/2014/main" id="{75205C1A-01CB-14E4-1C24-DB154720835A}"/>
              </a:ext>
            </a:extLst>
          </p:cNvPr>
          <p:cNvSpPr>
            <a:spLocks noGrp="1"/>
          </p:cNvSpPr>
          <p:nvPr>
            <p:ph type="sldNum" sz="quarter" idx="12"/>
          </p:nvPr>
        </p:nvSpPr>
        <p:spPr/>
        <p:txBody>
          <a:bodyPr/>
          <a:lstStyle/>
          <a:p>
            <a:fld id="{AA64B1FB-CC2F-4DD5-A068-EEAB847401EC}" type="slidenum">
              <a:rPr lang="en-GB" smtClean="0"/>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9F81DB7-5846-E4A2-DCA6-2475014E2BC4}"/>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6F367D53-57A6-349A-1725-894D4B855679}"/>
              </a:ext>
            </a:extLst>
          </p:cNvPr>
          <p:cNvSpPr txBox="1"/>
          <p:nvPr/>
        </p:nvSpPr>
        <p:spPr>
          <a:xfrm>
            <a:off x="793050" y="1829329"/>
            <a:ext cx="7514373" cy="3937616"/>
          </a:xfrm>
          <a:prstGeom prst="rect">
            <a:avLst/>
          </a:prstGeom>
          <a:noFill/>
        </p:spPr>
        <p:txBody>
          <a:bodyPr wrap="square" rtlCol="0">
            <a:spAutoFit/>
          </a:bodyPr>
          <a:lstStyle/>
          <a:p>
            <a:pPr marL="12066" marR="375920" algn="just">
              <a:lnSpc>
                <a:spcPct val="150000"/>
              </a:lnSpc>
              <a:spcBef>
                <a:spcPts val="100"/>
              </a:spcBef>
              <a:buClr>
                <a:srgbClr val="001F5F"/>
              </a:buClr>
              <a:tabLst>
                <a:tab pos="469900" algn="l"/>
              </a:tabLst>
            </a:pPr>
            <a:r>
              <a:rPr lang="en-GB" sz="2000" spc="-75" dirty="0">
                <a:solidFill>
                  <a:schemeClr val="bg1"/>
                </a:solidFill>
                <a:latin typeface="Calibri"/>
                <a:cs typeface="Calibri"/>
              </a:rPr>
              <a:t>At the end of each section, there will be a set review activities, that would help you see the progress you've made in this lesson.</a:t>
            </a:r>
          </a:p>
          <a:p>
            <a:pPr marL="12066" marR="375920" algn="just">
              <a:lnSpc>
                <a:spcPct val="150000"/>
              </a:lnSpc>
              <a:spcBef>
                <a:spcPts val="100"/>
              </a:spcBef>
              <a:buClr>
                <a:srgbClr val="001F5F"/>
              </a:buClr>
              <a:tabLst>
                <a:tab pos="469900" algn="l"/>
              </a:tabLst>
            </a:pPr>
            <a:endParaRPr lang="en-GB" sz="1000" spc="-75" dirty="0">
              <a:solidFill>
                <a:schemeClr val="bg1"/>
              </a:solidFill>
              <a:latin typeface="Calibri"/>
              <a:cs typeface="Calibri"/>
            </a:endParaRPr>
          </a:p>
          <a:p>
            <a:pPr marL="12066" marR="375920" algn="just">
              <a:lnSpc>
                <a:spcPct val="150000"/>
              </a:lnSpc>
              <a:spcBef>
                <a:spcPts val="100"/>
              </a:spcBef>
              <a:buClr>
                <a:srgbClr val="001F5F"/>
              </a:buClr>
              <a:tabLst>
                <a:tab pos="469900" algn="l"/>
              </a:tabLst>
            </a:pPr>
            <a:r>
              <a:rPr lang="en-GB" sz="2000" spc="-75" dirty="0">
                <a:solidFill>
                  <a:schemeClr val="bg1"/>
                </a:solidFill>
                <a:latin typeface="Calibri"/>
                <a:cs typeface="Calibri"/>
              </a:rPr>
              <a:t>The exercises would help you:</a:t>
            </a:r>
          </a:p>
          <a:p>
            <a:pPr marL="12066" marR="375920" algn="just">
              <a:lnSpc>
                <a:spcPct val="150000"/>
              </a:lnSpc>
              <a:spcBef>
                <a:spcPts val="100"/>
              </a:spcBef>
              <a:buClr>
                <a:srgbClr val="001F5F"/>
              </a:buClr>
              <a:tabLst>
                <a:tab pos="469900" algn="l"/>
              </a:tabLst>
            </a:pPr>
            <a:endParaRPr lang="en-GB" sz="200" spc="-75" dirty="0">
              <a:solidFill>
                <a:schemeClr val="bg1"/>
              </a:solidFill>
              <a:latin typeface="Calibri"/>
              <a:cs typeface="Calibri"/>
            </a:endParaRPr>
          </a:p>
          <a:p>
            <a:pPr marL="354966" marR="375920" indent="-342900" algn="just">
              <a:lnSpc>
                <a:spcPct val="150000"/>
              </a:lnSpc>
              <a:spcBef>
                <a:spcPts val="100"/>
              </a:spcBef>
              <a:buClr>
                <a:schemeClr val="bg1"/>
              </a:buClr>
              <a:buFont typeface="Courier New" panose="02070309020205020404" pitchFamily="49" charset="0"/>
              <a:buChar char="o"/>
              <a:tabLst>
                <a:tab pos="469900" algn="l"/>
              </a:tabLst>
            </a:pPr>
            <a:r>
              <a:rPr lang="en-GB" spc="-75" dirty="0">
                <a:solidFill>
                  <a:schemeClr val="bg1"/>
                </a:solidFill>
                <a:latin typeface="Calibri"/>
                <a:cs typeface="Calibri"/>
              </a:rPr>
              <a:t>Highlight what you have learned today and emphasize key information.</a:t>
            </a:r>
          </a:p>
          <a:p>
            <a:pPr marL="354966" marR="375920" indent="-342900" algn="just">
              <a:lnSpc>
                <a:spcPct val="150000"/>
              </a:lnSpc>
              <a:spcBef>
                <a:spcPts val="100"/>
              </a:spcBef>
              <a:buClr>
                <a:schemeClr val="bg1"/>
              </a:buClr>
              <a:buFont typeface="Courier New" panose="02070309020205020404" pitchFamily="49" charset="0"/>
              <a:buChar char="o"/>
              <a:tabLst>
                <a:tab pos="469900" algn="l"/>
              </a:tabLst>
            </a:pPr>
            <a:r>
              <a:rPr lang="en-GB" spc="-75" dirty="0">
                <a:solidFill>
                  <a:schemeClr val="bg1"/>
                </a:solidFill>
                <a:latin typeface="Calibri"/>
                <a:cs typeface="Calibri"/>
              </a:rPr>
              <a:t>Correct misunderstandings.</a:t>
            </a:r>
          </a:p>
          <a:p>
            <a:pPr marL="354966" marR="375920" indent="-342900" algn="just">
              <a:lnSpc>
                <a:spcPct val="150000"/>
              </a:lnSpc>
              <a:spcBef>
                <a:spcPts val="100"/>
              </a:spcBef>
              <a:buClr>
                <a:schemeClr val="bg1"/>
              </a:buClr>
              <a:buFont typeface="Courier New" panose="02070309020205020404" pitchFamily="49" charset="0"/>
              <a:buChar char="o"/>
              <a:tabLst>
                <a:tab pos="469900" algn="l"/>
              </a:tabLst>
            </a:pPr>
            <a:r>
              <a:rPr lang="en-GB" spc="-75" dirty="0">
                <a:solidFill>
                  <a:schemeClr val="bg1"/>
                </a:solidFill>
                <a:latin typeface="Calibri"/>
                <a:cs typeface="Calibri"/>
              </a:rPr>
              <a:t>Summarize, review, &amp; demonstrate your</a:t>
            </a:r>
          </a:p>
          <a:p>
            <a:pPr marL="354966" marR="375920" indent="-342900" algn="just">
              <a:lnSpc>
                <a:spcPct val="150000"/>
              </a:lnSpc>
              <a:spcBef>
                <a:spcPts val="100"/>
              </a:spcBef>
              <a:buClr>
                <a:schemeClr val="bg1"/>
              </a:buClr>
              <a:buFont typeface="Courier New" panose="02070309020205020404" pitchFamily="49" charset="0"/>
              <a:buChar char="o"/>
              <a:tabLst>
                <a:tab pos="469900" algn="l"/>
              </a:tabLst>
            </a:pPr>
            <a:r>
              <a:rPr lang="en-GB" spc="-75" dirty="0">
                <a:solidFill>
                  <a:schemeClr val="bg1"/>
                </a:solidFill>
                <a:latin typeface="Calibri"/>
                <a:cs typeface="Calibri"/>
              </a:rPr>
              <a:t>understanding of major points.</a:t>
            </a:r>
          </a:p>
          <a:p>
            <a:pPr marL="354966" marR="375920" indent="-342900" algn="just">
              <a:lnSpc>
                <a:spcPct val="150000"/>
              </a:lnSpc>
              <a:spcBef>
                <a:spcPts val="100"/>
              </a:spcBef>
              <a:buClr>
                <a:schemeClr val="bg1"/>
              </a:buClr>
              <a:buFont typeface="Courier New" panose="02070309020205020404" pitchFamily="49" charset="0"/>
              <a:buChar char="o"/>
              <a:tabLst>
                <a:tab pos="469900" algn="l"/>
              </a:tabLst>
            </a:pPr>
            <a:r>
              <a:rPr lang="en-GB" spc="-75" dirty="0">
                <a:solidFill>
                  <a:schemeClr val="bg1"/>
                </a:solidFill>
                <a:latin typeface="Calibri"/>
                <a:cs typeface="Calibri"/>
              </a:rPr>
              <a:t>Transfer ideas to new situations.</a:t>
            </a:r>
            <a:endParaRPr lang="en-GB" dirty="0">
              <a:solidFill>
                <a:schemeClr val="bg1"/>
              </a:solidFill>
              <a:latin typeface="Calibri"/>
              <a:cs typeface="Calibri"/>
            </a:endParaRPr>
          </a:p>
        </p:txBody>
      </p:sp>
      <p:sp>
        <p:nvSpPr>
          <p:cNvPr id="25" name="TextBox 24">
            <a:extLst>
              <a:ext uri="{FF2B5EF4-FFF2-40B4-BE49-F238E27FC236}">
                <a16:creationId xmlns:a16="http://schemas.microsoft.com/office/drawing/2014/main" id="{F02BA9BC-B2FF-5DD9-5783-1FF8F3C1F17D}"/>
              </a:ext>
            </a:extLst>
          </p:cNvPr>
          <p:cNvSpPr txBox="1"/>
          <p:nvPr/>
        </p:nvSpPr>
        <p:spPr>
          <a:xfrm>
            <a:off x="793050" y="781300"/>
            <a:ext cx="6347054" cy="861774"/>
          </a:xfrm>
          <a:prstGeom prst="rect">
            <a:avLst/>
          </a:prstGeom>
          <a:noFill/>
        </p:spPr>
        <p:txBody>
          <a:bodyPr wrap="square" rtlCol="0" anchor="ctr">
            <a:spAutoFit/>
          </a:bodyPr>
          <a:lstStyle/>
          <a:p>
            <a:r>
              <a:rPr lang="en-GB" altLang="ko-KR" sz="5000" b="1" dirty="0">
                <a:solidFill>
                  <a:schemeClr val="bg1"/>
                </a:solidFill>
                <a:cs typeface="Arial" pitchFamily="34" charset="0"/>
              </a:rPr>
              <a:t>What have we learned?</a:t>
            </a:r>
          </a:p>
        </p:txBody>
      </p:sp>
    </p:spTree>
    <p:extLst>
      <p:ext uri="{BB962C8B-B14F-4D97-AF65-F5344CB8AC3E}">
        <p14:creationId xmlns:p14="http://schemas.microsoft.com/office/powerpoint/2010/main" val="4002314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8C56933-B82B-61AE-B91A-69650F55950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04BF55FD-D62D-C65F-E19A-A13DF2091F9F}"/>
              </a:ext>
            </a:extLst>
          </p:cNvPr>
          <p:cNvSpPr txBox="1"/>
          <p:nvPr/>
        </p:nvSpPr>
        <p:spPr>
          <a:xfrm>
            <a:off x="491491" y="2050484"/>
            <a:ext cx="5804534" cy="3519938"/>
          </a:xfrm>
          <a:prstGeom prst="rect">
            <a:avLst/>
          </a:prstGeom>
          <a:noFill/>
        </p:spPr>
        <p:txBody>
          <a:bodyPr wrap="square" rtlCol="0">
            <a:spAutoFit/>
          </a:bodyPr>
          <a:lstStyle/>
          <a:p>
            <a:pPr marL="12066" marR="375920" algn="just">
              <a:lnSpc>
                <a:spcPct val="150000"/>
              </a:lnSpc>
              <a:spcBef>
                <a:spcPts val="100"/>
              </a:spcBef>
              <a:buClr>
                <a:srgbClr val="001F5F"/>
              </a:buClr>
              <a:tabLst>
                <a:tab pos="469900" algn="l"/>
              </a:tabLst>
            </a:pPr>
            <a:r>
              <a:rPr lang="en-GB" sz="2000" spc="-75" dirty="0">
                <a:solidFill>
                  <a:schemeClr val="bg1"/>
                </a:solidFill>
                <a:latin typeface="Calibri"/>
                <a:cs typeface="Calibri"/>
              </a:rPr>
              <a:t>At</a:t>
            </a:r>
            <a:r>
              <a:rPr lang="en-GB" sz="2000" spc="-90" dirty="0">
                <a:solidFill>
                  <a:schemeClr val="bg1"/>
                </a:solidFill>
                <a:latin typeface="Calibri"/>
                <a:cs typeface="Calibri"/>
              </a:rPr>
              <a:t> </a:t>
            </a:r>
            <a:r>
              <a:rPr lang="en-GB" sz="2000" spc="-40" dirty="0">
                <a:solidFill>
                  <a:schemeClr val="bg1"/>
                </a:solidFill>
                <a:latin typeface="Calibri"/>
                <a:cs typeface="Calibri"/>
              </a:rPr>
              <a:t>the</a:t>
            </a:r>
            <a:r>
              <a:rPr lang="en-GB" sz="2000" spc="-65" dirty="0">
                <a:solidFill>
                  <a:schemeClr val="bg1"/>
                </a:solidFill>
                <a:latin typeface="Calibri"/>
                <a:cs typeface="Calibri"/>
              </a:rPr>
              <a:t> </a:t>
            </a:r>
            <a:r>
              <a:rPr lang="en-GB" sz="2000" spc="-40" dirty="0">
                <a:solidFill>
                  <a:schemeClr val="bg1"/>
                </a:solidFill>
                <a:latin typeface="Calibri"/>
                <a:cs typeface="Calibri"/>
              </a:rPr>
              <a:t>end</a:t>
            </a:r>
            <a:r>
              <a:rPr lang="en-GB" sz="2000" spc="-85" dirty="0">
                <a:solidFill>
                  <a:schemeClr val="bg1"/>
                </a:solidFill>
                <a:latin typeface="Calibri"/>
                <a:cs typeface="Calibri"/>
              </a:rPr>
              <a:t> </a:t>
            </a:r>
            <a:r>
              <a:rPr lang="en-GB" sz="2000" spc="-10" dirty="0">
                <a:solidFill>
                  <a:schemeClr val="bg1"/>
                </a:solidFill>
                <a:latin typeface="Calibri"/>
                <a:cs typeface="Calibri"/>
              </a:rPr>
              <a:t>of</a:t>
            </a:r>
            <a:r>
              <a:rPr lang="en-GB" sz="2000" spc="-80" dirty="0">
                <a:solidFill>
                  <a:schemeClr val="bg1"/>
                </a:solidFill>
                <a:latin typeface="Calibri"/>
                <a:cs typeface="Calibri"/>
              </a:rPr>
              <a:t> </a:t>
            </a:r>
            <a:r>
              <a:rPr lang="en-GB" sz="2000" spc="-40" dirty="0">
                <a:solidFill>
                  <a:schemeClr val="bg1"/>
                </a:solidFill>
                <a:latin typeface="Calibri"/>
                <a:cs typeface="Calibri"/>
              </a:rPr>
              <a:t>each</a:t>
            </a:r>
            <a:r>
              <a:rPr lang="en-GB" sz="2000" spc="-100" dirty="0">
                <a:solidFill>
                  <a:schemeClr val="bg1"/>
                </a:solidFill>
                <a:latin typeface="Calibri"/>
                <a:cs typeface="Calibri"/>
              </a:rPr>
              <a:t> </a:t>
            </a:r>
            <a:r>
              <a:rPr lang="en-GB" sz="2000" spc="-55" dirty="0">
                <a:solidFill>
                  <a:schemeClr val="bg1"/>
                </a:solidFill>
                <a:latin typeface="Calibri"/>
                <a:cs typeface="Calibri"/>
              </a:rPr>
              <a:t>section,</a:t>
            </a:r>
            <a:r>
              <a:rPr lang="en-GB" sz="2000" spc="-60" dirty="0">
                <a:solidFill>
                  <a:schemeClr val="bg1"/>
                </a:solidFill>
                <a:latin typeface="Calibri"/>
                <a:cs typeface="Calibri"/>
              </a:rPr>
              <a:t> there</a:t>
            </a:r>
            <a:r>
              <a:rPr lang="en-GB" sz="2000" spc="-65" dirty="0">
                <a:solidFill>
                  <a:schemeClr val="bg1"/>
                </a:solidFill>
                <a:latin typeface="Calibri"/>
                <a:cs typeface="Calibri"/>
              </a:rPr>
              <a:t> </a:t>
            </a:r>
            <a:r>
              <a:rPr lang="en-GB" sz="2000" spc="-45" dirty="0">
                <a:solidFill>
                  <a:schemeClr val="bg1"/>
                </a:solidFill>
                <a:latin typeface="Calibri"/>
                <a:cs typeface="Calibri"/>
              </a:rPr>
              <a:t>will</a:t>
            </a:r>
            <a:r>
              <a:rPr lang="en-GB" sz="2000" spc="-80" dirty="0">
                <a:solidFill>
                  <a:schemeClr val="bg1"/>
                </a:solidFill>
                <a:latin typeface="Calibri"/>
                <a:cs typeface="Calibri"/>
              </a:rPr>
              <a:t> </a:t>
            </a:r>
            <a:r>
              <a:rPr lang="en-GB" sz="2000" spc="-20" dirty="0">
                <a:solidFill>
                  <a:schemeClr val="bg1"/>
                </a:solidFill>
                <a:latin typeface="Calibri"/>
                <a:cs typeface="Calibri"/>
              </a:rPr>
              <a:t>be</a:t>
            </a:r>
            <a:r>
              <a:rPr lang="en-GB" sz="2000" spc="-75" dirty="0">
                <a:solidFill>
                  <a:schemeClr val="bg1"/>
                </a:solidFill>
                <a:latin typeface="Calibri"/>
                <a:cs typeface="Calibri"/>
              </a:rPr>
              <a:t> </a:t>
            </a:r>
            <a:r>
              <a:rPr lang="en-GB" sz="2000" spc="-50" dirty="0">
                <a:solidFill>
                  <a:schemeClr val="bg1"/>
                </a:solidFill>
                <a:latin typeface="Calibri"/>
                <a:cs typeface="Calibri"/>
              </a:rPr>
              <a:t>a short</a:t>
            </a:r>
            <a:r>
              <a:rPr lang="en-GB" sz="2000" spc="-70" dirty="0">
                <a:solidFill>
                  <a:schemeClr val="bg1"/>
                </a:solidFill>
                <a:latin typeface="Calibri"/>
                <a:cs typeface="Calibri"/>
              </a:rPr>
              <a:t> </a:t>
            </a:r>
            <a:r>
              <a:rPr lang="en-GB" sz="2000" spc="-55" dirty="0">
                <a:solidFill>
                  <a:schemeClr val="bg1"/>
                </a:solidFill>
                <a:latin typeface="Calibri"/>
                <a:cs typeface="Calibri"/>
              </a:rPr>
              <a:t>list</a:t>
            </a:r>
            <a:r>
              <a:rPr lang="en-GB" sz="2000" spc="-85" dirty="0">
                <a:solidFill>
                  <a:schemeClr val="bg1"/>
                </a:solidFill>
                <a:latin typeface="Calibri"/>
                <a:cs typeface="Calibri"/>
              </a:rPr>
              <a:t> </a:t>
            </a:r>
            <a:r>
              <a:rPr lang="en-GB" sz="2000" spc="-10" dirty="0">
                <a:solidFill>
                  <a:schemeClr val="bg1"/>
                </a:solidFill>
                <a:latin typeface="Calibri"/>
                <a:cs typeface="Calibri"/>
              </a:rPr>
              <a:t>of</a:t>
            </a:r>
            <a:r>
              <a:rPr lang="en-GB" sz="2000" spc="-80" dirty="0">
                <a:solidFill>
                  <a:schemeClr val="bg1"/>
                </a:solidFill>
                <a:latin typeface="Calibri"/>
                <a:cs typeface="Calibri"/>
              </a:rPr>
              <a:t> </a:t>
            </a:r>
            <a:r>
              <a:rPr lang="en-GB" sz="2000" spc="-50" dirty="0">
                <a:solidFill>
                  <a:schemeClr val="bg1"/>
                </a:solidFill>
                <a:latin typeface="Calibri"/>
                <a:cs typeface="Calibri"/>
              </a:rPr>
              <a:t>additional</a:t>
            </a:r>
            <a:r>
              <a:rPr lang="en-GB" sz="2000" spc="-55" dirty="0">
                <a:solidFill>
                  <a:schemeClr val="bg1"/>
                </a:solidFill>
                <a:latin typeface="Calibri"/>
                <a:cs typeface="Calibri"/>
              </a:rPr>
              <a:t> </a:t>
            </a:r>
            <a:r>
              <a:rPr lang="en-GB" sz="2000" spc="-10" dirty="0">
                <a:solidFill>
                  <a:schemeClr val="bg1"/>
                </a:solidFill>
                <a:latin typeface="Calibri"/>
                <a:cs typeface="Calibri"/>
              </a:rPr>
              <a:t>resources.</a:t>
            </a:r>
          </a:p>
          <a:p>
            <a:pPr marL="12066" marR="375920" algn="just">
              <a:lnSpc>
                <a:spcPct val="150000"/>
              </a:lnSpc>
              <a:spcBef>
                <a:spcPts val="100"/>
              </a:spcBef>
              <a:buClr>
                <a:srgbClr val="001F5F"/>
              </a:buClr>
              <a:tabLst>
                <a:tab pos="469900" algn="l"/>
              </a:tabLst>
            </a:pPr>
            <a:endParaRPr lang="en-GB" sz="1000" dirty="0">
              <a:solidFill>
                <a:schemeClr val="bg1"/>
              </a:solidFill>
              <a:latin typeface="Calibri"/>
              <a:cs typeface="Calibri"/>
            </a:endParaRPr>
          </a:p>
          <a:p>
            <a:pPr marL="12066" marR="48895" algn="just">
              <a:lnSpc>
                <a:spcPct val="150000"/>
              </a:lnSpc>
              <a:spcBef>
                <a:spcPts val="600"/>
              </a:spcBef>
              <a:buClr>
                <a:srgbClr val="001F5F"/>
              </a:buClr>
              <a:tabLst>
                <a:tab pos="469900" algn="l"/>
              </a:tabLst>
            </a:pPr>
            <a:r>
              <a:rPr lang="en-GB" sz="2000" spc="-40" dirty="0">
                <a:solidFill>
                  <a:schemeClr val="bg1"/>
                </a:solidFill>
                <a:latin typeface="Calibri"/>
                <a:cs typeface="Calibri"/>
              </a:rPr>
              <a:t>The</a:t>
            </a:r>
            <a:r>
              <a:rPr lang="en-GB" sz="2000" spc="-70" dirty="0">
                <a:solidFill>
                  <a:schemeClr val="bg1"/>
                </a:solidFill>
                <a:latin typeface="Calibri"/>
                <a:cs typeface="Calibri"/>
              </a:rPr>
              <a:t> </a:t>
            </a:r>
            <a:r>
              <a:rPr lang="en-GB" sz="2000" spc="-50" dirty="0">
                <a:solidFill>
                  <a:schemeClr val="bg1"/>
                </a:solidFill>
                <a:latin typeface="Calibri"/>
                <a:cs typeface="Calibri"/>
              </a:rPr>
              <a:t>list</a:t>
            </a:r>
            <a:r>
              <a:rPr lang="en-GB" sz="2000" spc="-65" dirty="0">
                <a:solidFill>
                  <a:schemeClr val="bg1"/>
                </a:solidFill>
                <a:latin typeface="Calibri"/>
                <a:cs typeface="Calibri"/>
              </a:rPr>
              <a:t> </a:t>
            </a:r>
            <a:r>
              <a:rPr lang="en-GB" sz="2000" spc="-45" dirty="0">
                <a:solidFill>
                  <a:schemeClr val="bg1"/>
                </a:solidFill>
                <a:latin typeface="Calibri"/>
                <a:cs typeface="Calibri"/>
              </a:rPr>
              <a:t>will</a:t>
            </a:r>
            <a:r>
              <a:rPr lang="en-GB" sz="2000" spc="-70" dirty="0">
                <a:solidFill>
                  <a:schemeClr val="bg1"/>
                </a:solidFill>
                <a:latin typeface="Calibri"/>
                <a:cs typeface="Calibri"/>
              </a:rPr>
              <a:t> </a:t>
            </a:r>
            <a:r>
              <a:rPr lang="en-GB" sz="2000" spc="-45" dirty="0">
                <a:solidFill>
                  <a:schemeClr val="bg1"/>
                </a:solidFill>
                <a:latin typeface="Calibri"/>
                <a:cs typeface="Calibri"/>
              </a:rPr>
              <a:t>include</a:t>
            </a:r>
            <a:r>
              <a:rPr lang="en-GB" sz="2000" spc="-60" dirty="0">
                <a:solidFill>
                  <a:schemeClr val="bg1"/>
                </a:solidFill>
                <a:latin typeface="Calibri"/>
                <a:cs typeface="Calibri"/>
              </a:rPr>
              <a:t> </a:t>
            </a:r>
            <a:r>
              <a:rPr lang="en-GB" sz="2000" spc="-50" dirty="0">
                <a:solidFill>
                  <a:schemeClr val="bg1"/>
                </a:solidFill>
                <a:latin typeface="Calibri"/>
                <a:cs typeface="Calibri"/>
              </a:rPr>
              <a:t>articles, </a:t>
            </a:r>
            <a:r>
              <a:rPr lang="en-GB" sz="2000" spc="-100" dirty="0">
                <a:solidFill>
                  <a:schemeClr val="bg1"/>
                </a:solidFill>
                <a:latin typeface="Calibri"/>
                <a:cs typeface="Calibri"/>
              </a:rPr>
              <a:t>YouTube</a:t>
            </a:r>
            <a:r>
              <a:rPr lang="en-GB" sz="2000" spc="-60" dirty="0">
                <a:solidFill>
                  <a:schemeClr val="bg1"/>
                </a:solidFill>
                <a:latin typeface="Calibri"/>
                <a:cs typeface="Calibri"/>
              </a:rPr>
              <a:t> </a:t>
            </a:r>
            <a:r>
              <a:rPr lang="en-GB" sz="2000" spc="-25" dirty="0">
                <a:solidFill>
                  <a:schemeClr val="bg1"/>
                </a:solidFill>
                <a:latin typeface="Calibri"/>
                <a:cs typeface="Calibri"/>
              </a:rPr>
              <a:t>videos, </a:t>
            </a:r>
            <a:r>
              <a:rPr lang="en-GB" sz="2000" spc="-45" dirty="0">
                <a:solidFill>
                  <a:schemeClr val="bg1"/>
                </a:solidFill>
                <a:latin typeface="Calibri"/>
                <a:cs typeface="Calibri"/>
              </a:rPr>
              <a:t>online</a:t>
            </a:r>
            <a:r>
              <a:rPr lang="en-GB" sz="2000" spc="-75" dirty="0">
                <a:solidFill>
                  <a:schemeClr val="bg1"/>
                </a:solidFill>
                <a:latin typeface="Calibri"/>
                <a:cs typeface="Calibri"/>
              </a:rPr>
              <a:t> </a:t>
            </a:r>
            <a:r>
              <a:rPr lang="en-GB" sz="2000" spc="-55" dirty="0">
                <a:solidFill>
                  <a:schemeClr val="bg1"/>
                </a:solidFill>
                <a:latin typeface="Calibri"/>
                <a:cs typeface="Calibri"/>
              </a:rPr>
              <a:t>courses,</a:t>
            </a:r>
            <a:r>
              <a:rPr lang="en-GB" sz="2000" spc="-70" dirty="0">
                <a:solidFill>
                  <a:schemeClr val="bg1"/>
                </a:solidFill>
                <a:latin typeface="Calibri"/>
                <a:cs typeface="Calibri"/>
              </a:rPr>
              <a:t> </a:t>
            </a:r>
            <a:r>
              <a:rPr lang="en-GB" sz="2000" spc="-55" dirty="0">
                <a:solidFill>
                  <a:schemeClr val="bg1"/>
                </a:solidFill>
                <a:latin typeface="Calibri"/>
                <a:cs typeface="Calibri"/>
              </a:rPr>
              <a:t>books</a:t>
            </a:r>
            <a:r>
              <a:rPr lang="en-GB" sz="2000" spc="-75" dirty="0">
                <a:solidFill>
                  <a:schemeClr val="bg1"/>
                </a:solidFill>
                <a:latin typeface="Calibri"/>
                <a:cs typeface="Calibri"/>
              </a:rPr>
              <a:t> </a:t>
            </a:r>
            <a:r>
              <a:rPr lang="en-GB" sz="2000" spc="-20" dirty="0">
                <a:solidFill>
                  <a:schemeClr val="bg1"/>
                </a:solidFill>
                <a:latin typeface="Calibri"/>
                <a:cs typeface="Calibri"/>
              </a:rPr>
              <a:t>..</a:t>
            </a:r>
            <a:r>
              <a:rPr lang="en-GB" sz="2000" spc="-60" dirty="0">
                <a:solidFill>
                  <a:schemeClr val="bg1"/>
                </a:solidFill>
                <a:latin typeface="Calibri"/>
                <a:cs typeface="Calibri"/>
              </a:rPr>
              <a:t>.</a:t>
            </a:r>
            <a:r>
              <a:rPr lang="en-GB" sz="2000" spc="-85" dirty="0">
                <a:solidFill>
                  <a:schemeClr val="bg1"/>
                </a:solidFill>
                <a:latin typeface="Calibri"/>
                <a:cs typeface="Calibri"/>
              </a:rPr>
              <a:t> </a:t>
            </a:r>
            <a:r>
              <a:rPr lang="en-GB" sz="2000" spc="-35" dirty="0">
                <a:solidFill>
                  <a:schemeClr val="bg1"/>
                </a:solidFill>
                <a:latin typeface="Calibri"/>
                <a:cs typeface="Calibri"/>
              </a:rPr>
              <a:t>(</a:t>
            </a:r>
            <a:r>
              <a:rPr lang="en-GB" sz="2000" spc="-45" dirty="0">
                <a:solidFill>
                  <a:schemeClr val="bg1"/>
                </a:solidFill>
                <a:latin typeface="Calibri"/>
                <a:cs typeface="Calibri"/>
              </a:rPr>
              <a:t>both</a:t>
            </a:r>
            <a:r>
              <a:rPr lang="en-GB" sz="2000" spc="-70" dirty="0">
                <a:solidFill>
                  <a:schemeClr val="bg1"/>
                </a:solidFill>
                <a:latin typeface="Calibri"/>
                <a:cs typeface="Calibri"/>
              </a:rPr>
              <a:t> </a:t>
            </a:r>
            <a:r>
              <a:rPr lang="en-GB" sz="2000" spc="-10" dirty="0">
                <a:solidFill>
                  <a:schemeClr val="bg1"/>
                </a:solidFill>
                <a:latin typeface="Calibri"/>
                <a:cs typeface="Calibri"/>
              </a:rPr>
              <a:t>Arabic </a:t>
            </a:r>
            <a:r>
              <a:rPr lang="en-GB" sz="2000" spc="-40" dirty="0">
                <a:solidFill>
                  <a:schemeClr val="bg1"/>
                </a:solidFill>
                <a:latin typeface="Calibri"/>
                <a:cs typeface="Calibri"/>
              </a:rPr>
              <a:t>and</a:t>
            </a:r>
            <a:r>
              <a:rPr lang="en-GB" sz="2000" spc="-90" dirty="0">
                <a:solidFill>
                  <a:schemeClr val="bg1"/>
                </a:solidFill>
                <a:latin typeface="Calibri"/>
                <a:cs typeface="Calibri"/>
              </a:rPr>
              <a:t> </a:t>
            </a:r>
            <a:r>
              <a:rPr lang="en-GB" sz="2000" spc="-10" dirty="0">
                <a:solidFill>
                  <a:schemeClr val="bg1"/>
                </a:solidFill>
                <a:latin typeface="Calibri"/>
                <a:cs typeface="Calibri"/>
              </a:rPr>
              <a:t>English).</a:t>
            </a:r>
          </a:p>
          <a:p>
            <a:pPr marL="12066" marR="48895" algn="just">
              <a:lnSpc>
                <a:spcPct val="150000"/>
              </a:lnSpc>
              <a:spcBef>
                <a:spcPts val="600"/>
              </a:spcBef>
              <a:buClr>
                <a:srgbClr val="001F5F"/>
              </a:buClr>
              <a:tabLst>
                <a:tab pos="469900" algn="l"/>
              </a:tabLst>
            </a:pPr>
            <a:endParaRPr lang="en-GB" sz="1000" dirty="0">
              <a:solidFill>
                <a:schemeClr val="bg1"/>
              </a:solidFill>
              <a:latin typeface="Calibri"/>
              <a:cs typeface="Calibri"/>
            </a:endParaRPr>
          </a:p>
          <a:p>
            <a:pPr marL="12066" marR="5080" algn="just">
              <a:lnSpc>
                <a:spcPct val="150000"/>
              </a:lnSpc>
              <a:spcBef>
                <a:spcPts val="600"/>
              </a:spcBef>
              <a:buClr>
                <a:srgbClr val="001F5F"/>
              </a:buClr>
              <a:tabLst>
                <a:tab pos="469900" algn="l"/>
              </a:tabLst>
            </a:pPr>
            <a:r>
              <a:rPr lang="en-GB" sz="2000" spc="-50" dirty="0">
                <a:solidFill>
                  <a:schemeClr val="bg1"/>
                </a:solidFill>
                <a:latin typeface="Calibri"/>
                <a:cs typeface="Calibri"/>
              </a:rPr>
              <a:t>These</a:t>
            </a:r>
            <a:r>
              <a:rPr lang="en-GB" sz="2000" spc="-55" dirty="0">
                <a:solidFill>
                  <a:schemeClr val="bg1"/>
                </a:solidFill>
                <a:latin typeface="Calibri"/>
                <a:cs typeface="Calibri"/>
              </a:rPr>
              <a:t> resources</a:t>
            </a:r>
            <a:r>
              <a:rPr lang="en-GB" sz="2000" spc="-60" dirty="0">
                <a:solidFill>
                  <a:schemeClr val="bg1"/>
                </a:solidFill>
                <a:latin typeface="Calibri"/>
                <a:cs typeface="Calibri"/>
              </a:rPr>
              <a:t> </a:t>
            </a:r>
            <a:r>
              <a:rPr lang="en-GB" sz="2000" spc="-45" dirty="0">
                <a:solidFill>
                  <a:schemeClr val="bg1"/>
                </a:solidFill>
                <a:latin typeface="Calibri"/>
                <a:cs typeface="Calibri"/>
              </a:rPr>
              <a:t>will</a:t>
            </a:r>
            <a:r>
              <a:rPr lang="en-GB" sz="2000" spc="-70" dirty="0">
                <a:solidFill>
                  <a:schemeClr val="bg1"/>
                </a:solidFill>
                <a:latin typeface="Calibri"/>
                <a:cs typeface="Calibri"/>
              </a:rPr>
              <a:t> </a:t>
            </a:r>
            <a:r>
              <a:rPr lang="en-GB" sz="2000" spc="-60" dirty="0">
                <a:solidFill>
                  <a:schemeClr val="bg1"/>
                </a:solidFill>
                <a:latin typeface="Calibri"/>
                <a:cs typeface="Calibri"/>
              </a:rPr>
              <a:t>provide </a:t>
            </a:r>
            <a:r>
              <a:rPr lang="en-GB" sz="2000" spc="-50" dirty="0">
                <a:solidFill>
                  <a:schemeClr val="bg1"/>
                </a:solidFill>
                <a:latin typeface="Calibri"/>
                <a:cs typeface="Calibri"/>
              </a:rPr>
              <a:t>more</a:t>
            </a:r>
            <a:r>
              <a:rPr lang="en-GB" sz="2000" spc="-75" dirty="0">
                <a:solidFill>
                  <a:schemeClr val="bg1"/>
                </a:solidFill>
                <a:latin typeface="Calibri"/>
                <a:cs typeface="Calibri"/>
              </a:rPr>
              <a:t> </a:t>
            </a:r>
            <a:r>
              <a:rPr lang="en-GB" sz="2000" spc="-55" dirty="0">
                <a:solidFill>
                  <a:schemeClr val="bg1"/>
                </a:solidFill>
                <a:latin typeface="Calibri"/>
                <a:cs typeface="Calibri"/>
              </a:rPr>
              <a:t>details</a:t>
            </a:r>
            <a:r>
              <a:rPr lang="en-GB" sz="2000" spc="-50" dirty="0">
                <a:solidFill>
                  <a:schemeClr val="bg1"/>
                </a:solidFill>
                <a:latin typeface="Calibri"/>
                <a:cs typeface="Calibri"/>
              </a:rPr>
              <a:t> </a:t>
            </a:r>
            <a:r>
              <a:rPr lang="en-GB" sz="2000" spc="-25" dirty="0">
                <a:solidFill>
                  <a:schemeClr val="bg1"/>
                </a:solidFill>
                <a:latin typeface="Calibri"/>
                <a:cs typeface="Calibri"/>
              </a:rPr>
              <a:t>on </a:t>
            </a:r>
            <a:r>
              <a:rPr lang="en-GB" sz="2000" spc="-50" dirty="0">
                <a:solidFill>
                  <a:schemeClr val="bg1"/>
                </a:solidFill>
                <a:latin typeface="Calibri"/>
                <a:cs typeface="Calibri"/>
              </a:rPr>
              <a:t>some</a:t>
            </a:r>
            <a:r>
              <a:rPr lang="en-GB" sz="2000" spc="-80" dirty="0">
                <a:solidFill>
                  <a:schemeClr val="bg1"/>
                </a:solidFill>
                <a:latin typeface="Calibri"/>
                <a:cs typeface="Calibri"/>
              </a:rPr>
              <a:t> </a:t>
            </a:r>
            <a:r>
              <a:rPr lang="en-GB" sz="2000" spc="-30" dirty="0">
                <a:solidFill>
                  <a:schemeClr val="bg1"/>
                </a:solidFill>
                <a:latin typeface="Calibri"/>
                <a:cs typeface="Calibri"/>
              </a:rPr>
              <a:t>of</a:t>
            </a:r>
            <a:r>
              <a:rPr lang="en-GB" sz="2000" spc="-85" dirty="0">
                <a:solidFill>
                  <a:schemeClr val="bg1"/>
                </a:solidFill>
                <a:latin typeface="Calibri"/>
                <a:cs typeface="Calibri"/>
              </a:rPr>
              <a:t> </a:t>
            </a:r>
            <a:r>
              <a:rPr lang="en-GB" sz="2000" spc="-40" dirty="0">
                <a:solidFill>
                  <a:schemeClr val="bg1"/>
                </a:solidFill>
                <a:latin typeface="Calibri"/>
                <a:cs typeface="Calibri"/>
              </a:rPr>
              <a:t>the</a:t>
            </a:r>
            <a:r>
              <a:rPr lang="en-GB" sz="2000" spc="-55" dirty="0">
                <a:solidFill>
                  <a:schemeClr val="bg1"/>
                </a:solidFill>
                <a:latin typeface="Calibri"/>
                <a:cs typeface="Calibri"/>
              </a:rPr>
              <a:t> topics </a:t>
            </a:r>
            <a:r>
              <a:rPr lang="en-GB" sz="2000" spc="-50" dirty="0">
                <a:solidFill>
                  <a:schemeClr val="bg1"/>
                </a:solidFill>
                <a:latin typeface="Calibri"/>
                <a:cs typeface="Calibri"/>
              </a:rPr>
              <a:t>discussed during</a:t>
            </a:r>
            <a:r>
              <a:rPr lang="en-GB" sz="2000" spc="-55" dirty="0">
                <a:solidFill>
                  <a:schemeClr val="bg1"/>
                </a:solidFill>
                <a:latin typeface="Calibri"/>
                <a:cs typeface="Calibri"/>
              </a:rPr>
              <a:t> </a:t>
            </a:r>
            <a:r>
              <a:rPr lang="en-GB" sz="2000" spc="-25" dirty="0">
                <a:solidFill>
                  <a:schemeClr val="bg1"/>
                </a:solidFill>
                <a:latin typeface="Calibri"/>
                <a:cs typeface="Calibri"/>
              </a:rPr>
              <a:t>the </a:t>
            </a:r>
            <a:r>
              <a:rPr lang="en-GB" sz="2000" spc="-10" dirty="0">
                <a:solidFill>
                  <a:schemeClr val="bg1"/>
                </a:solidFill>
                <a:latin typeface="Calibri"/>
                <a:cs typeface="Calibri"/>
              </a:rPr>
              <a:t>lectures.</a:t>
            </a:r>
            <a:endParaRPr lang="en-GB" sz="2000" dirty="0">
              <a:solidFill>
                <a:schemeClr val="bg1"/>
              </a:solidFill>
              <a:latin typeface="Calibri"/>
              <a:cs typeface="Calibri"/>
            </a:endParaRPr>
          </a:p>
        </p:txBody>
      </p:sp>
      <p:sp>
        <p:nvSpPr>
          <p:cNvPr id="25" name="TextBox 24">
            <a:extLst>
              <a:ext uri="{FF2B5EF4-FFF2-40B4-BE49-F238E27FC236}">
                <a16:creationId xmlns:a16="http://schemas.microsoft.com/office/drawing/2014/main" id="{56219F6A-20F8-7A0F-35D1-B5241F5877F4}"/>
              </a:ext>
            </a:extLst>
          </p:cNvPr>
          <p:cNvSpPr txBox="1"/>
          <p:nvPr/>
        </p:nvSpPr>
        <p:spPr>
          <a:xfrm>
            <a:off x="491491" y="781300"/>
            <a:ext cx="5804534" cy="861774"/>
          </a:xfrm>
          <a:prstGeom prst="rect">
            <a:avLst/>
          </a:prstGeom>
          <a:noFill/>
        </p:spPr>
        <p:txBody>
          <a:bodyPr wrap="square" rtlCol="0" anchor="ctr">
            <a:spAutoFit/>
          </a:bodyPr>
          <a:lstStyle/>
          <a:p>
            <a:r>
              <a:rPr lang="en-GB" altLang="ko-KR" sz="5000" b="1" dirty="0">
                <a:solidFill>
                  <a:schemeClr val="bg1"/>
                </a:solidFill>
                <a:cs typeface="Arial" pitchFamily="34" charset="0"/>
              </a:rPr>
              <a:t>Additional Resources</a:t>
            </a:r>
            <a:endParaRPr lang="ko-KR" altLang="en-US" sz="5000" b="1" dirty="0">
              <a:solidFill>
                <a:schemeClr val="bg1"/>
              </a:solidFill>
              <a:cs typeface="Arial" pitchFamily="34" charset="0"/>
            </a:endParaRPr>
          </a:p>
        </p:txBody>
      </p:sp>
    </p:spTree>
    <p:extLst>
      <p:ext uri="{BB962C8B-B14F-4D97-AF65-F5344CB8AC3E}">
        <p14:creationId xmlns:p14="http://schemas.microsoft.com/office/powerpoint/2010/main" val="2037560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D87A0-7FD2-59CB-C327-57B6E43E354A}"/>
            </a:ext>
          </a:extLst>
        </p:cNvPr>
        <p:cNvGrpSpPr/>
        <p:nvPr/>
      </p:nvGrpSpPr>
      <p:grpSpPr>
        <a:xfrm>
          <a:off x="0" y="0"/>
          <a:ext cx="0" cy="0"/>
          <a:chOff x="0" y="0"/>
          <a:chExt cx="0" cy="0"/>
        </a:xfrm>
      </p:grpSpPr>
      <p:pic>
        <p:nvPicPr>
          <p:cNvPr id="2050" name="Picture 2" descr="Premium Vector | Big brain with circuit and programmers. Artificial  intelligence, machine learning and data science,">
            <a:extLst>
              <a:ext uri="{FF2B5EF4-FFF2-40B4-BE49-F238E27FC236}">
                <a16:creationId xmlns:a16="http://schemas.microsoft.com/office/drawing/2014/main" id="{1519DF50-0202-7706-8F6A-284939C5A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9886" y="814155"/>
            <a:ext cx="3790950" cy="2525281"/>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1">
            <a:extLst>
              <a:ext uri="{FF2B5EF4-FFF2-40B4-BE49-F238E27FC236}">
                <a16:creationId xmlns:a16="http://schemas.microsoft.com/office/drawing/2014/main" id="{5926E53F-C30A-37C9-0FA8-06E00F592D1D}"/>
              </a:ext>
            </a:extLst>
          </p:cNvPr>
          <p:cNvSpPr txBox="1">
            <a:spLocks/>
          </p:cNvSpPr>
          <p:nvPr/>
        </p:nvSpPr>
        <p:spPr>
          <a:xfrm>
            <a:off x="777398" y="1077692"/>
            <a:ext cx="4521817"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chemeClr val="bg2">
                    <a:lumMod val="50000"/>
                  </a:schemeClr>
                </a:solidFill>
                <a:effectLst/>
                <a:uLnTx/>
                <a:uFillTx/>
                <a:latin typeface="Arial"/>
                <a:cs typeface="Arial" pitchFamily="34" charset="0"/>
              </a:rPr>
              <a:t>Class Project</a:t>
            </a:r>
          </a:p>
        </p:txBody>
      </p:sp>
      <p:sp>
        <p:nvSpPr>
          <p:cNvPr id="2" name="TextBox 1">
            <a:extLst>
              <a:ext uri="{FF2B5EF4-FFF2-40B4-BE49-F238E27FC236}">
                <a16:creationId xmlns:a16="http://schemas.microsoft.com/office/drawing/2014/main" id="{0EA44197-5F1B-0D17-08B4-7154EBF394B8}"/>
              </a:ext>
            </a:extLst>
          </p:cNvPr>
          <p:cNvSpPr txBox="1"/>
          <p:nvPr/>
        </p:nvSpPr>
        <p:spPr>
          <a:xfrm>
            <a:off x="827963" y="2172997"/>
            <a:ext cx="5651977" cy="3888244"/>
          </a:xfrm>
          <a:prstGeom prst="rect">
            <a:avLst/>
          </a:prstGeom>
          <a:noFill/>
        </p:spPr>
        <p:txBody>
          <a:bodyPr wrap="square">
            <a:spAutoFit/>
          </a:bodyPr>
          <a:lstStyle/>
          <a:p>
            <a:pPr algn="just">
              <a:spcBef>
                <a:spcPts val="400"/>
              </a:spcBef>
            </a:pPr>
            <a:r>
              <a:rPr lang="en-GB" dirty="0"/>
              <a:t>A major component of the class goal is to take a real-world domain that you are interested in and apply the taught methodologies to gain insight into the domain.</a:t>
            </a:r>
          </a:p>
          <a:p>
            <a:pPr algn="just">
              <a:spcBef>
                <a:spcPts val="400"/>
              </a:spcBef>
            </a:pPr>
            <a:endParaRPr lang="en-GB" sz="1000" dirty="0"/>
          </a:p>
          <a:p>
            <a:pPr algn="just">
              <a:spcBef>
                <a:spcPts val="400"/>
              </a:spcBef>
            </a:pPr>
            <a:r>
              <a:rPr lang="en-GB" dirty="0"/>
              <a:t>Work to be done in groups of 4-5 students, more detail will be announced later.</a:t>
            </a:r>
          </a:p>
          <a:p>
            <a:pPr algn="just">
              <a:spcBef>
                <a:spcPts val="400"/>
              </a:spcBef>
            </a:pPr>
            <a:endParaRPr lang="en-GB" sz="1000" dirty="0"/>
          </a:p>
          <a:p>
            <a:pPr algn="just">
              <a:spcBef>
                <a:spcPts val="400"/>
              </a:spcBef>
            </a:pPr>
            <a:r>
              <a:rPr lang="en-GB" dirty="0"/>
              <a:t>Final report will include the analysis of your data, including code and visual results.</a:t>
            </a:r>
          </a:p>
          <a:p>
            <a:pPr algn="just">
              <a:spcBef>
                <a:spcPts val="400"/>
              </a:spcBef>
            </a:pPr>
            <a:endParaRPr lang="en-GB" sz="1000" dirty="0"/>
          </a:p>
          <a:p>
            <a:pPr algn="just">
              <a:spcBef>
                <a:spcPts val="400"/>
              </a:spcBef>
            </a:pPr>
            <a:r>
              <a:rPr lang="en-GB" dirty="0"/>
              <a:t>The students will be required to perform a 15 mins demo of their project.</a:t>
            </a:r>
          </a:p>
          <a:p>
            <a:pPr algn="just">
              <a:spcBef>
                <a:spcPts val="400"/>
              </a:spcBef>
            </a:pPr>
            <a:endParaRPr lang="en-GB" sz="1000" dirty="0"/>
          </a:p>
          <a:p>
            <a:pPr algn="just">
              <a:spcBef>
                <a:spcPts val="400"/>
              </a:spcBef>
            </a:pPr>
            <a:r>
              <a:rPr lang="en-GB" dirty="0"/>
              <a:t>Class projects must be focused on some real data problem.</a:t>
            </a:r>
          </a:p>
        </p:txBody>
      </p:sp>
      <p:grpSp>
        <p:nvGrpSpPr>
          <p:cNvPr id="10" name="Group 9">
            <a:extLst>
              <a:ext uri="{FF2B5EF4-FFF2-40B4-BE49-F238E27FC236}">
                <a16:creationId xmlns:a16="http://schemas.microsoft.com/office/drawing/2014/main" id="{AC07C983-4716-9655-7245-B24157246C4C}"/>
              </a:ext>
            </a:extLst>
          </p:cNvPr>
          <p:cNvGrpSpPr/>
          <p:nvPr/>
        </p:nvGrpSpPr>
        <p:grpSpPr>
          <a:xfrm>
            <a:off x="7359886" y="3622047"/>
            <a:ext cx="4155839" cy="2333625"/>
            <a:chOff x="7217011" y="3571874"/>
            <a:chExt cx="4155839" cy="2333625"/>
          </a:xfrm>
        </p:grpSpPr>
        <p:sp>
          <p:nvSpPr>
            <p:cNvPr id="7" name="TextBox 6">
              <a:extLst>
                <a:ext uri="{FF2B5EF4-FFF2-40B4-BE49-F238E27FC236}">
                  <a16:creationId xmlns:a16="http://schemas.microsoft.com/office/drawing/2014/main" id="{D7E6345D-7313-E449-0DC4-439B8F028E48}"/>
                </a:ext>
              </a:extLst>
            </p:cNvPr>
            <p:cNvSpPr txBox="1"/>
            <p:nvPr/>
          </p:nvSpPr>
          <p:spPr>
            <a:xfrm>
              <a:off x="7362825" y="3790015"/>
              <a:ext cx="3829050" cy="1938992"/>
            </a:xfrm>
            <a:prstGeom prst="rect">
              <a:avLst/>
            </a:prstGeom>
            <a:noFill/>
          </p:spPr>
          <p:txBody>
            <a:bodyPr wrap="square">
              <a:spAutoFit/>
            </a:bodyPr>
            <a:lstStyle/>
            <a:p>
              <a:pPr algn="just"/>
              <a:r>
                <a:rPr lang="en-GB" sz="1200" dirty="0">
                  <a:solidFill>
                    <a:schemeClr val="accent2"/>
                  </a:solidFill>
                </a:rPr>
                <a:t>You can discuss ideas and methodology for the homework or the project with other students in the course, but you must write your solutions completely independently.</a:t>
              </a:r>
            </a:p>
            <a:p>
              <a:pPr algn="just"/>
              <a:endParaRPr lang="en-GB" sz="1200" dirty="0">
                <a:solidFill>
                  <a:schemeClr val="accent2"/>
                </a:solidFill>
              </a:endParaRPr>
            </a:p>
            <a:p>
              <a:pPr algn="just"/>
              <a:r>
                <a:rPr lang="en-GB" sz="1200" dirty="0">
                  <a:solidFill>
                    <a:schemeClr val="accent2"/>
                  </a:solidFill>
                </a:rPr>
                <a:t>We will be code-checking to assess similar submissions or submissions that use code from other sources.</a:t>
              </a:r>
            </a:p>
            <a:p>
              <a:pPr algn="just"/>
              <a:endParaRPr lang="en-GB" sz="1200" dirty="0">
                <a:solidFill>
                  <a:schemeClr val="accent2"/>
                </a:solidFill>
              </a:endParaRPr>
            </a:p>
            <a:p>
              <a:pPr algn="just"/>
              <a:r>
                <a:rPr lang="en-GB" sz="1200" dirty="0">
                  <a:solidFill>
                    <a:schemeClr val="accent2"/>
                  </a:solidFill>
                </a:rPr>
                <a:t>You may use snippets of code from other sources, as long as you cite these properly </a:t>
              </a:r>
              <a:r>
                <a:rPr lang="en-GB" sz="900" dirty="0">
                  <a:solidFill>
                    <a:schemeClr val="accent2"/>
                  </a:solidFill>
                </a:rPr>
                <a:t>(put a comment above and below whatever portion of code is copied)</a:t>
              </a:r>
              <a:r>
                <a:rPr lang="en-GB" sz="1200" dirty="0">
                  <a:solidFill>
                    <a:schemeClr val="accent2"/>
                  </a:solidFill>
                </a:rPr>
                <a:t> but be reasonable.</a:t>
              </a:r>
            </a:p>
          </p:txBody>
        </p:sp>
        <p:sp>
          <p:nvSpPr>
            <p:cNvPr id="8" name="Rectangle: Rounded Corners 7">
              <a:extLst>
                <a:ext uri="{FF2B5EF4-FFF2-40B4-BE49-F238E27FC236}">
                  <a16:creationId xmlns:a16="http://schemas.microsoft.com/office/drawing/2014/main" id="{6C9410A9-59A9-267F-69CC-D9C0C63C8F83}"/>
                </a:ext>
              </a:extLst>
            </p:cNvPr>
            <p:cNvSpPr/>
            <p:nvPr/>
          </p:nvSpPr>
          <p:spPr>
            <a:xfrm>
              <a:off x="7217011" y="3571874"/>
              <a:ext cx="4155839" cy="2333625"/>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grpSp>
      <p:sp>
        <p:nvSpPr>
          <p:cNvPr id="11" name="Slide Number Placeholder 10">
            <a:extLst>
              <a:ext uri="{FF2B5EF4-FFF2-40B4-BE49-F238E27FC236}">
                <a16:creationId xmlns:a16="http://schemas.microsoft.com/office/drawing/2014/main" id="{BBD015D8-4B00-224A-F21C-6F5EBEDC379C}"/>
              </a:ext>
            </a:extLst>
          </p:cNvPr>
          <p:cNvSpPr>
            <a:spLocks noGrp="1"/>
          </p:cNvSpPr>
          <p:nvPr>
            <p:ph type="sldNum" sz="quarter" idx="12"/>
          </p:nvPr>
        </p:nvSpPr>
        <p:spPr/>
        <p:txBody>
          <a:bodyPr/>
          <a:lstStyle/>
          <a:p>
            <a:fld id="{AA64B1FB-CC2F-4DD5-A068-EEAB847401EC}" type="slidenum">
              <a:rPr lang="en-GB" smtClean="0"/>
              <a:t>9</a:t>
            </a:fld>
            <a:endParaRPr lang="en-GB"/>
          </a:p>
        </p:txBody>
      </p:sp>
    </p:spTree>
    <p:extLst>
      <p:ext uri="{BB962C8B-B14F-4D97-AF65-F5344CB8AC3E}">
        <p14:creationId xmlns:p14="http://schemas.microsoft.com/office/powerpoint/2010/main" val="240489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7816DC-4910-F1BF-8F83-9F2D208C2591}"/>
              </a:ext>
            </a:extLst>
          </p:cNvPr>
          <p:cNvSpPr txBox="1">
            <a:spLocks/>
          </p:cNvSpPr>
          <p:nvPr/>
        </p:nvSpPr>
        <p:spPr>
          <a:xfrm>
            <a:off x="709249" y="793069"/>
            <a:ext cx="4347709"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dirty="0">
                <a:solidFill>
                  <a:schemeClr val="bg2">
                    <a:lumMod val="50000"/>
                  </a:schemeClr>
                </a:solidFill>
                <a:latin typeface="Arial"/>
              </a:rPr>
              <a:t>Academic Agenda</a:t>
            </a:r>
            <a:endParaRPr kumimoji="0" lang="en-US" sz="3600" b="1" i="0" u="none" strike="noStrike" kern="1200" cap="none" spc="0" normalizeH="0" baseline="0" noProof="0" dirty="0">
              <a:ln>
                <a:noFill/>
              </a:ln>
              <a:solidFill>
                <a:schemeClr val="bg2">
                  <a:lumMod val="50000"/>
                </a:schemeClr>
              </a:solidFill>
              <a:effectLst/>
              <a:uLnTx/>
              <a:uFillTx/>
              <a:latin typeface="Arial"/>
              <a:cs typeface="Arial" pitchFamily="34" charset="0"/>
            </a:endParaRPr>
          </a:p>
        </p:txBody>
      </p:sp>
      <p:graphicFrame>
        <p:nvGraphicFramePr>
          <p:cNvPr id="19" name="object 7">
            <a:extLst>
              <a:ext uri="{FF2B5EF4-FFF2-40B4-BE49-F238E27FC236}">
                <a16:creationId xmlns:a16="http://schemas.microsoft.com/office/drawing/2014/main" id="{E49F9E1F-CD98-378B-9004-5941466566E8}"/>
              </a:ext>
            </a:extLst>
          </p:cNvPr>
          <p:cNvGraphicFramePr>
            <a:graphicFrameLocks noGrp="1"/>
          </p:cNvGraphicFramePr>
          <p:nvPr>
            <p:extLst>
              <p:ext uri="{D42A27DB-BD31-4B8C-83A1-F6EECF244321}">
                <p14:modId xmlns:p14="http://schemas.microsoft.com/office/powerpoint/2010/main" val="3634058491"/>
              </p:ext>
            </p:extLst>
          </p:nvPr>
        </p:nvGraphicFramePr>
        <p:xfrm>
          <a:off x="1056312" y="1914123"/>
          <a:ext cx="10241935" cy="4282888"/>
        </p:xfrm>
        <a:graphic>
          <a:graphicData uri="http://schemas.openxmlformats.org/drawingml/2006/table">
            <a:tbl>
              <a:tblPr firstRow="1" bandRow="1">
                <a:tableStyleId>{912C8C85-51F0-491E-9774-3900AFEF0FD7}</a:tableStyleId>
              </a:tblPr>
              <a:tblGrid>
                <a:gridCol w="1382415">
                  <a:extLst>
                    <a:ext uri="{9D8B030D-6E8A-4147-A177-3AD203B41FA5}">
                      <a16:colId xmlns:a16="http://schemas.microsoft.com/office/drawing/2014/main" val="20000"/>
                    </a:ext>
                  </a:extLst>
                </a:gridCol>
                <a:gridCol w="8859520">
                  <a:extLst>
                    <a:ext uri="{9D8B030D-6E8A-4147-A177-3AD203B41FA5}">
                      <a16:colId xmlns:a16="http://schemas.microsoft.com/office/drawing/2014/main" val="20002"/>
                    </a:ext>
                  </a:extLst>
                </a:gridCol>
              </a:tblGrid>
              <a:tr h="320724">
                <a:tc>
                  <a:txBody>
                    <a:bodyPr/>
                    <a:lstStyle/>
                    <a:p>
                      <a:pPr marR="48260" algn="ctr">
                        <a:lnSpc>
                          <a:spcPct val="100000"/>
                        </a:lnSpc>
                        <a:spcBef>
                          <a:spcPts val="395"/>
                        </a:spcBef>
                      </a:pPr>
                      <a:r>
                        <a:rPr sz="1700" b="1" spc="-10" dirty="0">
                          <a:solidFill>
                            <a:srgbClr val="FFFFFF"/>
                          </a:solidFill>
                        </a:rPr>
                        <a:t>Week</a:t>
                      </a:r>
                      <a:endParaRPr sz="1700" dirty="0">
                        <a:latin typeface="Calibri"/>
                        <a:cs typeface="Calibri"/>
                      </a:endParaRPr>
                    </a:p>
                  </a:txBody>
                  <a:tcPr marL="0" marR="0" marT="52458"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ADDB0"/>
                    </a:solidFill>
                  </a:tcPr>
                </a:tc>
                <a:tc>
                  <a:txBody>
                    <a:bodyPr/>
                    <a:lstStyle/>
                    <a:p>
                      <a:pPr marL="45720">
                        <a:lnSpc>
                          <a:spcPct val="100000"/>
                        </a:lnSpc>
                        <a:spcBef>
                          <a:spcPts val="254"/>
                        </a:spcBef>
                      </a:pPr>
                      <a:r>
                        <a:rPr sz="1900" b="1" spc="-40" dirty="0">
                          <a:solidFill>
                            <a:srgbClr val="FFFF00"/>
                          </a:solidFill>
                        </a:rPr>
                        <a:t> </a:t>
                      </a:r>
                      <a:r>
                        <a:rPr lang="fr-FR" sz="1900" b="1" spc="-40" dirty="0">
                          <a:solidFill>
                            <a:srgbClr val="FFFF00"/>
                          </a:solidFill>
                        </a:rPr>
                        <a:t>                                                           </a:t>
                      </a:r>
                      <a:r>
                        <a:rPr sz="1900" b="1" dirty="0">
                          <a:solidFill>
                            <a:srgbClr val="FFFFFF"/>
                          </a:solidFill>
                        </a:rPr>
                        <a:t>Academic</a:t>
                      </a:r>
                      <a:r>
                        <a:rPr sz="1900" b="1" spc="-55" dirty="0">
                          <a:solidFill>
                            <a:srgbClr val="FFFFFF"/>
                          </a:solidFill>
                        </a:rPr>
                        <a:t> </a:t>
                      </a:r>
                      <a:r>
                        <a:rPr sz="1900" b="1" dirty="0">
                          <a:solidFill>
                            <a:srgbClr val="FFFFFF"/>
                          </a:solidFill>
                        </a:rPr>
                        <a:t>Agenda</a:t>
                      </a:r>
                      <a:endParaRPr sz="1900" dirty="0">
                        <a:latin typeface="Calibri"/>
                        <a:cs typeface="Calibri"/>
                      </a:endParaRPr>
                    </a:p>
                  </a:txBody>
                  <a:tcPr marL="0" marR="0" marT="338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ADDB0"/>
                    </a:solidFill>
                  </a:tcPr>
                </a:tc>
                <a:extLst>
                  <a:ext uri="{0D108BD9-81ED-4DB2-BD59-A6C34878D82A}">
                    <a16:rowId xmlns:a16="http://schemas.microsoft.com/office/drawing/2014/main" val="10000"/>
                  </a:ext>
                </a:extLst>
              </a:tr>
              <a:tr h="326701">
                <a:tc>
                  <a:txBody>
                    <a:bodyPr/>
                    <a:lstStyle/>
                    <a:p>
                      <a:pPr marR="106045" algn="ctr">
                        <a:lnSpc>
                          <a:spcPct val="100000"/>
                        </a:lnSpc>
                        <a:spcBef>
                          <a:spcPts val="440"/>
                        </a:spcBef>
                      </a:pPr>
                      <a:r>
                        <a:rPr lang="fr-FR" sz="1700" b="1" dirty="0"/>
                        <a:t> </a:t>
                      </a:r>
                      <a:r>
                        <a:rPr sz="1700" b="1" dirty="0"/>
                        <a:t>Wk.</a:t>
                      </a:r>
                      <a:r>
                        <a:rPr sz="1700" b="1" spc="-30" dirty="0"/>
                        <a:t> </a:t>
                      </a:r>
                      <a:r>
                        <a:rPr lang="fr-FR" sz="1700" b="1" spc="-50" dirty="0"/>
                        <a:t>1</a:t>
                      </a:r>
                      <a:endParaRPr sz="1700" dirty="0">
                        <a:latin typeface="Calibri"/>
                        <a:cs typeface="Calibri"/>
                      </a:endParaRPr>
                    </a:p>
                  </a:txBody>
                  <a:tcPr marL="0" marR="0" marT="5843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0"/>
                        </a:spcBef>
                      </a:pPr>
                      <a:r>
                        <a:rPr lang="fr-FR" sz="1900" dirty="0"/>
                        <a:t>Introduction</a:t>
                      </a:r>
                      <a:r>
                        <a:rPr sz="1900" spc="-30" dirty="0"/>
                        <a:t> </a:t>
                      </a:r>
                      <a:r>
                        <a:rPr sz="1900" dirty="0"/>
                        <a:t>to</a:t>
                      </a:r>
                      <a:r>
                        <a:rPr sz="1900" spc="-50" dirty="0"/>
                        <a:t> </a:t>
                      </a:r>
                      <a:r>
                        <a:rPr sz="1900" dirty="0"/>
                        <a:t>Artificial</a:t>
                      </a:r>
                      <a:r>
                        <a:rPr sz="1900" spc="-30" dirty="0"/>
                        <a:t> </a:t>
                      </a:r>
                      <a:r>
                        <a:rPr sz="1900" dirty="0"/>
                        <a:t>Intelligence</a:t>
                      </a:r>
                      <a:endParaRPr sz="1900" dirty="0">
                        <a:latin typeface="Calibri"/>
                        <a:cs typeface="Calibri"/>
                      </a:endParaRPr>
                    </a:p>
                  </a:txBody>
                  <a:tcPr marL="0" marR="0" marT="3984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2"/>
                  </a:ext>
                </a:extLst>
              </a:tr>
              <a:tr h="326701">
                <a:tc>
                  <a:txBody>
                    <a:bodyPr/>
                    <a:lstStyle/>
                    <a:p>
                      <a:pPr marR="106045" algn="ctr">
                        <a:lnSpc>
                          <a:spcPct val="100000"/>
                        </a:lnSpc>
                        <a:spcBef>
                          <a:spcPts val="440"/>
                        </a:spcBef>
                      </a:pPr>
                      <a:r>
                        <a:rPr lang="fr-FR" sz="1700" b="1" dirty="0"/>
                        <a:t> </a:t>
                      </a:r>
                      <a:r>
                        <a:rPr sz="1700" b="1" dirty="0"/>
                        <a:t>Wk.</a:t>
                      </a:r>
                      <a:r>
                        <a:rPr sz="1700" b="1" spc="-30" dirty="0"/>
                        <a:t> </a:t>
                      </a:r>
                      <a:r>
                        <a:rPr lang="fr-FR" sz="1700" b="1" spc="-50" dirty="0"/>
                        <a:t>2</a:t>
                      </a:r>
                      <a:endParaRPr sz="1700" dirty="0">
                        <a:latin typeface="Calibri"/>
                        <a:cs typeface="Calibri"/>
                      </a:endParaRPr>
                    </a:p>
                  </a:txBody>
                  <a:tcPr marL="0" marR="0" marT="5843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0"/>
                        </a:spcBef>
                      </a:pPr>
                      <a:r>
                        <a:rPr sz="1900" dirty="0"/>
                        <a:t>Intelligent</a:t>
                      </a:r>
                      <a:r>
                        <a:rPr sz="1900" spc="-30" dirty="0"/>
                        <a:t> </a:t>
                      </a:r>
                      <a:r>
                        <a:rPr sz="1900" dirty="0"/>
                        <a:t>Agents</a:t>
                      </a:r>
                      <a:r>
                        <a:rPr lang="fr-FR" sz="1900" spc="-40" dirty="0"/>
                        <a:t>,</a:t>
                      </a:r>
                      <a:r>
                        <a:rPr sz="1900" spc="-45" dirty="0"/>
                        <a:t> </a:t>
                      </a:r>
                      <a:r>
                        <a:rPr sz="1900" dirty="0"/>
                        <a:t>AI</a:t>
                      </a:r>
                      <a:r>
                        <a:rPr sz="1900" spc="-35" dirty="0"/>
                        <a:t> </a:t>
                      </a:r>
                      <a:r>
                        <a:rPr sz="1900" dirty="0"/>
                        <a:t>Related</a:t>
                      </a:r>
                      <a:r>
                        <a:rPr sz="1900" spc="-20" dirty="0"/>
                        <a:t> </a:t>
                      </a:r>
                      <a:r>
                        <a:rPr sz="1900" spc="-10" dirty="0"/>
                        <a:t>Disciplines</a:t>
                      </a:r>
                      <a:endParaRPr sz="1900" dirty="0">
                        <a:latin typeface="Calibri"/>
                        <a:cs typeface="Calibri"/>
                      </a:endParaRPr>
                    </a:p>
                  </a:txBody>
                  <a:tcPr marL="0" marR="0" marT="3984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3"/>
                  </a:ext>
                </a:extLst>
              </a:tr>
              <a:tr h="326701">
                <a:tc>
                  <a:txBody>
                    <a:bodyPr/>
                    <a:lstStyle/>
                    <a:p>
                      <a:pPr marR="106045" algn="ctr">
                        <a:lnSpc>
                          <a:spcPct val="100000"/>
                        </a:lnSpc>
                        <a:spcBef>
                          <a:spcPts val="440"/>
                        </a:spcBef>
                      </a:pPr>
                      <a:r>
                        <a:rPr lang="fr-FR" sz="1700" b="1" dirty="0"/>
                        <a:t> </a:t>
                      </a:r>
                      <a:r>
                        <a:rPr sz="1700" b="1" dirty="0"/>
                        <a:t>Wk.</a:t>
                      </a:r>
                      <a:r>
                        <a:rPr sz="1700" b="1" spc="-20" dirty="0"/>
                        <a:t> </a:t>
                      </a:r>
                      <a:r>
                        <a:rPr lang="fr-FR" sz="1700" b="1" spc="-50" dirty="0"/>
                        <a:t>3</a:t>
                      </a:r>
                      <a:endParaRPr sz="1700" dirty="0">
                        <a:latin typeface="Calibri"/>
                        <a:cs typeface="Calibri"/>
                      </a:endParaRPr>
                    </a:p>
                  </a:txBody>
                  <a:tcPr marL="0" marR="0" marT="5843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0"/>
                        </a:spcBef>
                      </a:pPr>
                      <a:r>
                        <a:rPr sz="1900" dirty="0"/>
                        <a:t>Solving</a:t>
                      </a:r>
                      <a:r>
                        <a:rPr sz="1900" spc="-15" dirty="0"/>
                        <a:t> </a:t>
                      </a:r>
                      <a:r>
                        <a:rPr sz="1900" dirty="0"/>
                        <a:t>Problems</a:t>
                      </a:r>
                      <a:r>
                        <a:rPr sz="1900" spc="-25" dirty="0"/>
                        <a:t> </a:t>
                      </a:r>
                      <a:r>
                        <a:rPr sz="1900" dirty="0"/>
                        <a:t>by</a:t>
                      </a:r>
                      <a:r>
                        <a:rPr sz="1900" spc="-25" dirty="0"/>
                        <a:t> </a:t>
                      </a:r>
                      <a:r>
                        <a:rPr sz="1900" dirty="0"/>
                        <a:t>Searching,</a:t>
                      </a:r>
                      <a:r>
                        <a:rPr sz="1900" spc="-10" dirty="0"/>
                        <a:t> </a:t>
                      </a:r>
                      <a:r>
                        <a:rPr sz="1900" dirty="0"/>
                        <a:t>State</a:t>
                      </a:r>
                      <a:r>
                        <a:rPr sz="1900" spc="-25" dirty="0"/>
                        <a:t> </a:t>
                      </a:r>
                      <a:r>
                        <a:rPr sz="1900" dirty="0"/>
                        <a:t>Space</a:t>
                      </a:r>
                      <a:r>
                        <a:rPr sz="1900" spc="-25" dirty="0"/>
                        <a:t> </a:t>
                      </a:r>
                      <a:r>
                        <a:rPr sz="1900" dirty="0"/>
                        <a:t>Search</a:t>
                      </a:r>
                      <a:r>
                        <a:rPr sz="1900" spc="-15" dirty="0"/>
                        <a:t> </a:t>
                      </a:r>
                      <a:r>
                        <a:rPr sz="1900" dirty="0"/>
                        <a:t>Strategies</a:t>
                      </a:r>
                      <a:r>
                        <a:rPr lang="fr-FR" sz="1900" spc="-25" dirty="0"/>
                        <a:t>,</a:t>
                      </a:r>
                      <a:r>
                        <a:rPr sz="1900" spc="-20" dirty="0"/>
                        <a:t> </a:t>
                      </a:r>
                      <a:r>
                        <a:rPr sz="1900" spc="-10" dirty="0"/>
                        <a:t>Structures</a:t>
                      </a:r>
                      <a:endParaRPr sz="1900" dirty="0">
                        <a:latin typeface="Calibri"/>
                        <a:cs typeface="Calibri"/>
                      </a:endParaRPr>
                    </a:p>
                  </a:txBody>
                  <a:tcPr marL="0" marR="0" marT="3984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4"/>
                  </a:ext>
                </a:extLst>
              </a:tr>
              <a:tr h="327365">
                <a:tc>
                  <a:txBody>
                    <a:bodyPr/>
                    <a:lstStyle/>
                    <a:p>
                      <a:pPr marR="106045" algn="ctr">
                        <a:lnSpc>
                          <a:spcPct val="100000"/>
                        </a:lnSpc>
                        <a:spcBef>
                          <a:spcPts val="445"/>
                        </a:spcBef>
                      </a:pPr>
                      <a:r>
                        <a:rPr lang="fr-FR" sz="1700" b="1" dirty="0"/>
                        <a:t> </a:t>
                      </a:r>
                      <a:r>
                        <a:rPr sz="1700" b="1" dirty="0"/>
                        <a:t>Wk.</a:t>
                      </a:r>
                      <a:r>
                        <a:rPr sz="1700" b="1" spc="-30" dirty="0"/>
                        <a:t> </a:t>
                      </a:r>
                      <a:r>
                        <a:rPr lang="fr-FR" sz="1700" b="1" spc="-50" dirty="0"/>
                        <a:t>4</a:t>
                      </a:r>
                      <a:endParaRPr sz="1700" dirty="0">
                        <a:latin typeface="Calibri"/>
                        <a:cs typeface="Calibri"/>
                      </a:endParaRPr>
                    </a:p>
                  </a:txBody>
                  <a:tcPr marL="0" marR="0" marT="59098"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Knowledge</a:t>
                      </a:r>
                      <a:r>
                        <a:rPr sz="1900" spc="-45" dirty="0"/>
                        <a:t> </a:t>
                      </a:r>
                      <a:r>
                        <a:rPr sz="1900" dirty="0"/>
                        <a:t>Representation</a:t>
                      </a:r>
                      <a:r>
                        <a:rPr sz="1900" spc="-40" dirty="0"/>
                        <a:t> </a:t>
                      </a:r>
                      <a:r>
                        <a:rPr sz="1900" dirty="0"/>
                        <a:t>via</a:t>
                      </a:r>
                      <a:r>
                        <a:rPr sz="1900" spc="-50" dirty="0"/>
                        <a:t> </a:t>
                      </a:r>
                      <a:r>
                        <a:rPr sz="1900" dirty="0"/>
                        <a:t>Propositional</a:t>
                      </a:r>
                      <a:r>
                        <a:rPr lang="fr-FR" sz="1900" spc="-35" dirty="0"/>
                        <a:t>,</a:t>
                      </a:r>
                      <a:r>
                        <a:rPr sz="1900" spc="-55" dirty="0"/>
                        <a:t> </a:t>
                      </a:r>
                      <a:r>
                        <a:rPr sz="1900" dirty="0"/>
                        <a:t>Predicate</a:t>
                      </a:r>
                      <a:r>
                        <a:rPr sz="1900" spc="-35" dirty="0"/>
                        <a:t> </a:t>
                      </a:r>
                      <a:r>
                        <a:rPr sz="1900" spc="-10" dirty="0"/>
                        <a:t>Calculi</a:t>
                      </a:r>
                      <a:endParaRPr sz="1900"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5"/>
                  </a:ext>
                </a:extLst>
              </a:tr>
              <a:tr h="327365">
                <a:tc>
                  <a:txBody>
                    <a:bodyPr/>
                    <a:lstStyle/>
                    <a:p>
                      <a:pPr marR="106045" algn="ctr">
                        <a:lnSpc>
                          <a:spcPct val="100000"/>
                        </a:lnSpc>
                        <a:spcBef>
                          <a:spcPts val="445"/>
                        </a:spcBef>
                      </a:pPr>
                      <a:r>
                        <a:rPr lang="fr-FR" sz="1700" b="1" dirty="0"/>
                        <a:t> </a:t>
                      </a:r>
                      <a:r>
                        <a:rPr sz="1700" b="1" dirty="0"/>
                        <a:t>Wk.</a:t>
                      </a:r>
                      <a:r>
                        <a:rPr sz="1700" b="1" spc="-30" dirty="0"/>
                        <a:t> </a:t>
                      </a:r>
                      <a:r>
                        <a:rPr lang="fr-FR" sz="1700" b="1" spc="-50" dirty="0"/>
                        <a:t>5</a:t>
                      </a:r>
                      <a:endParaRPr sz="1700" dirty="0">
                        <a:latin typeface="Calibri"/>
                        <a:cs typeface="Calibri"/>
                      </a:endParaRPr>
                    </a:p>
                  </a:txBody>
                  <a:tcPr marL="0" marR="0" marT="59098"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Problem</a:t>
                      </a:r>
                      <a:r>
                        <a:rPr sz="1900" spc="-10" dirty="0"/>
                        <a:t> </a:t>
                      </a:r>
                      <a:r>
                        <a:rPr sz="1900" dirty="0"/>
                        <a:t>Solving</a:t>
                      </a:r>
                      <a:r>
                        <a:rPr sz="1900" spc="-5" dirty="0"/>
                        <a:t> </a:t>
                      </a:r>
                      <a:r>
                        <a:rPr sz="1900" dirty="0"/>
                        <a:t>as</a:t>
                      </a:r>
                      <a:r>
                        <a:rPr sz="1900" spc="-25" dirty="0"/>
                        <a:t> </a:t>
                      </a:r>
                      <a:r>
                        <a:rPr sz="1900" dirty="0"/>
                        <a:t>Search</a:t>
                      </a:r>
                      <a:r>
                        <a:rPr sz="1900" spc="-10" dirty="0"/>
                        <a:t> </a:t>
                      </a:r>
                      <a:r>
                        <a:rPr sz="1600" spc="-10" dirty="0"/>
                        <a:t>(Blind/Uninformed</a:t>
                      </a:r>
                      <a:r>
                        <a:rPr sz="1600" spc="10" dirty="0"/>
                        <a:t> </a:t>
                      </a:r>
                      <a:r>
                        <a:rPr sz="1600" dirty="0"/>
                        <a:t>vs.</a:t>
                      </a:r>
                      <a:r>
                        <a:rPr sz="1600" spc="-25" dirty="0"/>
                        <a:t> </a:t>
                      </a:r>
                      <a:r>
                        <a:rPr sz="1600" spc="-10" dirty="0"/>
                        <a:t>Heuristic/Informed</a:t>
                      </a:r>
                      <a:r>
                        <a:rPr sz="1600" dirty="0"/>
                        <a:t> </a:t>
                      </a:r>
                      <a:r>
                        <a:rPr sz="1600" spc="-10" dirty="0"/>
                        <a:t>Strategies)</a:t>
                      </a:r>
                      <a:endParaRPr sz="1600"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6"/>
                  </a:ext>
                </a:extLst>
              </a:tr>
              <a:tr h="327365">
                <a:tc>
                  <a:txBody>
                    <a:bodyPr/>
                    <a:lstStyle/>
                    <a:p>
                      <a:pPr marR="106045" algn="ctr">
                        <a:lnSpc>
                          <a:spcPct val="100000"/>
                        </a:lnSpc>
                        <a:spcBef>
                          <a:spcPts val="445"/>
                        </a:spcBef>
                      </a:pPr>
                      <a:r>
                        <a:rPr lang="fr-FR" sz="1700" b="1" dirty="0"/>
                        <a:t>  </a:t>
                      </a:r>
                      <a:r>
                        <a:rPr sz="1700" b="1" dirty="0"/>
                        <a:t>Wk.</a:t>
                      </a:r>
                      <a:r>
                        <a:rPr sz="1700" b="1" spc="-30" dirty="0"/>
                        <a:t> </a:t>
                      </a:r>
                      <a:r>
                        <a:rPr lang="fr-FR" sz="1700" b="1" spc="-50" dirty="0"/>
                        <a:t>6</a:t>
                      </a:r>
                      <a:endParaRPr sz="1700" dirty="0">
                        <a:latin typeface="Calibri"/>
                        <a:cs typeface="Calibri"/>
                      </a:endParaRPr>
                    </a:p>
                  </a:txBody>
                  <a:tcPr marL="0" marR="0" marT="59098"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Problem</a:t>
                      </a:r>
                      <a:r>
                        <a:rPr sz="1900" spc="-20" dirty="0"/>
                        <a:t> </a:t>
                      </a:r>
                      <a:r>
                        <a:rPr sz="1900" dirty="0"/>
                        <a:t>Solving</a:t>
                      </a:r>
                      <a:r>
                        <a:rPr sz="1900" spc="-15" dirty="0"/>
                        <a:t> </a:t>
                      </a:r>
                      <a:r>
                        <a:rPr sz="1900" dirty="0"/>
                        <a:t>as</a:t>
                      </a:r>
                      <a:r>
                        <a:rPr sz="1900" spc="-40" dirty="0"/>
                        <a:t> </a:t>
                      </a:r>
                      <a:r>
                        <a:rPr sz="1900" dirty="0"/>
                        <a:t>Search</a:t>
                      </a:r>
                      <a:r>
                        <a:rPr sz="1900" spc="-25" dirty="0"/>
                        <a:t> </a:t>
                      </a:r>
                      <a:r>
                        <a:rPr sz="1600" dirty="0"/>
                        <a:t>(More</a:t>
                      </a:r>
                      <a:r>
                        <a:rPr sz="1600" spc="-5" dirty="0"/>
                        <a:t> </a:t>
                      </a:r>
                      <a:r>
                        <a:rPr sz="1600" dirty="0"/>
                        <a:t>on</a:t>
                      </a:r>
                      <a:r>
                        <a:rPr sz="1600" spc="-35" dirty="0"/>
                        <a:t> </a:t>
                      </a:r>
                      <a:r>
                        <a:rPr sz="1600" dirty="0"/>
                        <a:t>Heuristic</a:t>
                      </a:r>
                      <a:r>
                        <a:rPr sz="1600" spc="-20" dirty="0"/>
                        <a:t> </a:t>
                      </a:r>
                      <a:r>
                        <a:rPr sz="1600" dirty="0"/>
                        <a:t>Search</a:t>
                      </a:r>
                      <a:r>
                        <a:rPr lang="fr-FR" sz="1600" spc="-20" dirty="0"/>
                        <a:t>,</a:t>
                      </a:r>
                      <a:r>
                        <a:rPr sz="1600" spc="-35" dirty="0"/>
                        <a:t> </a:t>
                      </a:r>
                      <a:r>
                        <a:rPr sz="1600" dirty="0"/>
                        <a:t>Adversarial</a:t>
                      </a:r>
                      <a:r>
                        <a:rPr sz="1600" spc="-30" dirty="0"/>
                        <a:t> </a:t>
                      </a:r>
                      <a:r>
                        <a:rPr sz="1600" spc="-10" dirty="0"/>
                        <a:t>Search)</a:t>
                      </a:r>
                      <a:endParaRPr sz="1600"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8"/>
                  </a:ext>
                </a:extLst>
              </a:tr>
              <a:tr h="327365">
                <a:tc>
                  <a:txBody>
                    <a:bodyPr/>
                    <a:lstStyle/>
                    <a:p>
                      <a:pPr marR="106045" algn="ctr">
                        <a:lnSpc>
                          <a:spcPct val="100000"/>
                        </a:lnSpc>
                        <a:spcBef>
                          <a:spcPts val="445"/>
                        </a:spcBef>
                      </a:pPr>
                      <a:r>
                        <a:rPr lang="fr-FR" sz="1700" b="1" dirty="0"/>
                        <a:t>  </a:t>
                      </a:r>
                      <a:r>
                        <a:rPr sz="1700" b="1" dirty="0"/>
                        <a:t>Wk.</a:t>
                      </a:r>
                      <a:r>
                        <a:rPr sz="1700" b="1" spc="-20" dirty="0"/>
                        <a:t> </a:t>
                      </a:r>
                      <a:r>
                        <a:rPr lang="fr-FR" sz="1700" b="1" spc="-50" dirty="0"/>
                        <a:t>7</a:t>
                      </a:r>
                      <a:endParaRPr sz="1700" dirty="0">
                        <a:latin typeface="Calibri"/>
                        <a:cs typeface="Calibri"/>
                      </a:endParaRPr>
                    </a:p>
                  </a:txBody>
                  <a:tcPr marL="0" marR="0" marT="59098"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Beyond</a:t>
                      </a:r>
                      <a:r>
                        <a:rPr sz="1900" spc="-20" dirty="0"/>
                        <a:t> </a:t>
                      </a:r>
                      <a:r>
                        <a:rPr sz="1900" dirty="0"/>
                        <a:t>Classical</a:t>
                      </a:r>
                      <a:r>
                        <a:rPr sz="1900" spc="-10" dirty="0"/>
                        <a:t> </a:t>
                      </a:r>
                      <a:r>
                        <a:rPr sz="1900" dirty="0"/>
                        <a:t>Search</a:t>
                      </a:r>
                      <a:r>
                        <a:rPr sz="1900" spc="-20" dirty="0"/>
                        <a:t> </a:t>
                      </a:r>
                      <a:r>
                        <a:rPr sz="1600" spc="-10" dirty="0"/>
                        <a:t>(Evolutionary/Genetic</a:t>
                      </a:r>
                      <a:r>
                        <a:rPr sz="1600" spc="10" dirty="0"/>
                        <a:t> </a:t>
                      </a:r>
                      <a:r>
                        <a:rPr sz="1600" spc="-10" dirty="0"/>
                        <a:t>Algorithms)</a:t>
                      </a:r>
                      <a:endParaRPr sz="1600"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09"/>
                  </a:ext>
                </a:extLst>
              </a:tr>
              <a:tr h="327365">
                <a:tc>
                  <a:txBody>
                    <a:bodyPr/>
                    <a:lstStyle/>
                    <a:p>
                      <a:pPr marR="3810" algn="ctr">
                        <a:lnSpc>
                          <a:spcPct val="100000"/>
                        </a:lnSpc>
                        <a:spcBef>
                          <a:spcPts val="445"/>
                        </a:spcBef>
                      </a:pPr>
                      <a:r>
                        <a:rPr sz="1700" b="1" dirty="0"/>
                        <a:t>Wk.</a:t>
                      </a:r>
                      <a:r>
                        <a:rPr sz="1700" b="1" spc="-30" dirty="0"/>
                        <a:t> </a:t>
                      </a:r>
                      <a:r>
                        <a:rPr lang="fr-FR" sz="1700" b="1" spc="-25" dirty="0"/>
                        <a:t>8</a:t>
                      </a:r>
                      <a:endParaRPr sz="1700" dirty="0">
                        <a:latin typeface="Calibri"/>
                        <a:cs typeface="Calibri"/>
                      </a:endParaRPr>
                    </a:p>
                  </a:txBody>
                  <a:tcPr marL="0" marR="0" marT="59098"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spc="-10" dirty="0"/>
                        <a:t>Supervised</a:t>
                      </a:r>
                      <a:r>
                        <a:rPr sz="1900" spc="-25" dirty="0"/>
                        <a:t> </a:t>
                      </a:r>
                      <a:r>
                        <a:rPr sz="1900" dirty="0"/>
                        <a:t>Machine</a:t>
                      </a:r>
                      <a:r>
                        <a:rPr sz="1900" spc="-5" dirty="0"/>
                        <a:t> </a:t>
                      </a:r>
                      <a:r>
                        <a:rPr sz="1900" dirty="0"/>
                        <a:t>Learning </a:t>
                      </a:r>
                      <a:r>
                        <a:rPr lang="fr-FR" sz="1600" dirty="0"/>
                        <a:t>(</a:t>
                      </a:r>
                      <a:r>
                        <a:rPr sz="1600" dirty="0"/>
                        <a:t>Decision</a:t>
                      </a:r>
                      <a:r>
                        <a:rPr sz="1600" spc="-5" dirty="0"/>
                        <a:t> </a:t>
                      </a:r>
                      <a:r>
                        <a:rPr sz="1600" dirty="0"/>
                        <a:t>Trees</a:t>
                      </a:r>
                      <a:r>
                        <a:rPr sz="1600" spc="-5" dirty="0"/>
                        <a:t> </a:t>
                      </a:r>
                      <a:r>
                        <a:rPr sz="1600" dirty="0"/>
                        <a:t>via</a:t>
                      </a:r>
                      <a:r>
                        <a:rPr sz="1600" spc="-35" dirty="0"/>
                        <a:t> </a:t>
                      </a:r>
                      <a:r>
                        <a:rPr sz="1600" dirty="0"/>
                        <a:t>the</a:t>
                      </a:r>
                      <a:r>
                        <a:rPr sz="1600" spc="-25" dirty="0"/>
                        <a:t> </a:t>
                      </a:r>
                      <a:r>
                        <a:rPr sz="1600" dirty="0"/>
                        <a:t>ID3</a:t>
                      </a:r>
                      <a:r>
                        <a:rPr sz="1600" spc="-15" dirty="0"/>
                        <a:t> </a:t>
                      </a:r>
                      <a:r>
                        <a:rPr sz="1600" dirty="0"/>
                        <a:t>Algo.</a:t>
                      </a:r>
                      <a:r>
                        <a:rPr sz="1600" spc="-30" dirty="0"/>
                        <a:t> </a:t>
                      </a:r>
                      <a:r>
                        <a:rPr sz="1600" dirty="0"/>
                        <a:t>+</a:t>
                      </a:r>
                      <a:r>
                        <a:rPr sz="1600" spc="-10" dirty="0"/>
                        <a:t> </a:t>
                      </a:r>
                      <a:r>
                        <a:rPr sz="1600" dirty="0"/>
                        <a:t>BI</a:t>
                      </a:r>
                      <a:r>
                        <a:rPr sz="1600" spc="-35" dirty="0"/>
                        <a:t> </a:t>
                      </a:r>
                      <a:r>
                        <a:rPr sz="1600" dirty="0"/>
                        <a:t>app.</a:t>
                      </a:r>
                      <a:r>
                        <a:rPr sz="1600" spc="-30" dirty="0"/>
                        <a:t> </a:t>
                      </a:r>
                      <a:r>
                        <a:rPr sz="1600" dirty="0"/>
                        <a:t>via</a:t>
                      </a:r>
                      <a:r>
                        <a:rPr sz="1600" spc="-15" dirty="0"/>
                        <a:t> </a:t>
                      </a:r>
                      <a:r>
                        <a:rPr sz="1600" spc="-20" dirty="0"/>
                        <a:t>Weka</a:t>
                      </a:r>
                      <a:r>
                        <a:rPr lang="fr-FR" sz="1600" spc="-20" dirty="0"/>
                        <a:t>)</a:t>
                      </a:r>
                      <a:endParaRPr sz="1600"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10"/>
                  </a:ext>
                </a:extLst>
              </a:tr>
              <a:tr h="327365">
                <a:tc>
                  <a:txBody>
                    <a:bodyPr/>
                    <a:lstStyle/>
                    <a:p>
                      <a:pPr marR="3810" algn="ctr">
                        <a:lnSpc>
                          <a:spcPct val="100000"/>
                        </a:lnSpc>
                        <a:spcBef>
                          <a:spcPts val="450"/>
                        </a:spcBef>
                      </a:pPr>
                      <a:r>
                        <a:rPr lang="en-GB" sz="1700" b="1" dirty="0"/>
                        <a:t>Wk.</a:t>
                      </a:r>
                      <a:r>
                        <a:rPr lang="en-GB" sz="1700" b="1" spc="-30" dirty="0"/>
                        <a:t> </a:t>
                      </a:r>
                      <a:r>
                        <a:rPr lang="en-GB" sz="1700" b="1" spc="-25" dirty="0"/>
                        <a:t>9</a:t>
                      </a:r>
                      <a:endParaRPr sz="1700" dirty="0">
                        <a:latin typeface="Calibri"/>
                        <a:cs typeface="Calibri"/>
                      </a:endParaRPr>
                    </a:p>
                  </a:txBody>
                  <a:tcPr marL="0" marR="0" marT="5976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The</a:t>
                      </a:r>
                      <a:r>
                        <a:rPr sz="1900" spc="-50" dirty="0"/>
                        <a:t> </a:t>
                      </a:r>
                      <a:r>
                        <a:rPr sz="1900" dirty="0"/>
                        <a:t>Learning</a:t>
                      </a:r>
                      <a:r>
                        <a:rPr sz="1900" spc="-25" dirty="0"/>
                        <a:t> </a:t>
                      </a:r>
                      <a:r>
                        <a:rPr sz="1900" dirty="0"/>
                        <a:t>Problem,</a:t>
                      </a:r>
                      <a:r>
                        <a:rPr sz="1900" spc="-40" dirty="0"/>
                        <a:t> </a:t>
                      </a:r>
                      <a:r>
                        <a:rPr sz="1900" dirty="0"/>
                        <a:t>the</a:t>
                      </a:r>
                      <a:r>
                        <a:rPr sz="1900" spc="-35" dirty="0"/>
                        <a:t> </a:t>
                      </a:r>
                      <a:r>
                        <a:rPr sz="1900" dirty="0"/>
                        <a:t>Perceptron,</a:t>
                      </a:r>
                      <a:r>
                        <a:rPr sz="1900" spc="-30" dirty="0"/>
                        <a:t> </a:t>
                      </a:r>
                      <a:r>
                        <a:rPr sz="1900" dirty="0"/>
                        <a:t>the</a:t>
                      </a:r>
                      <a:r>
                        <a:rPr sz="1900" spc="-35" dirty="0"/>
                        <a:t> </a:t>
                      </a:r>
                      <a:r>
                        <a:rPr sz="1900" dirty="0"/>
                        <a:t>Perceptron</a:t>
                      </a:r>
                      <a:r>
                        <a:rPr sz="1900" spc="-40" dirty="0"/>
                        <a:t> </a:t>
                      </a:r>
                      <a:r>
                        <a:rPr sz="1900" dirty="0"/>
                        <a:t>Learning</a:t>
                      </a:r>
                      <a:r>
                        <a:rPr sz="1900" spc="-25" dirty="0"/>
                        <a:t> </a:t>
                      </a:r>
                      <a:r>
                        <a:rPr sz="1900" dirty="0"/>
                        <a:t>Algo</a:t>
                      </a:r>
                      <a:r>
                        <a:rPr lang="fr-FR" sz="1900" dirty="0"/>
                        <a:t> </a:t>
                      </a:r>
                      <a:r>
                        <a:rPr sz="1400" b="1" spc="-10" dirty="0"/>
                        <a:t>[PLA]</a:t>
                      </a:r>
                      <a:endParaRPr sz="1400" b="1"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11"/>
                  </a:ext>
                </a:extLst>
              </a:tr>
              <a:tr h="327365">
                <a:tc>
                  <a:txBody>
                    <a:bodyPr/>
                    <a:lstStyle/>
                    <a:p>
                      <a:pPr marR="3810" algn="ctr">
                        <a:lnSpc>
                          <a:spcPct val="100000"/>
                        </a:lnSpc>
                        <a:spcBef>
                          <a:spcPts val="450"/>
                        </a:spcBef>
                      </a:pPr>
                      <a:r>
                        <a:rPr lang="fr-FR" sz="1700" b="1" dirty="0"/>
                        <a:t>  </a:t>
                      </a:r>
                      <a:r>
                        <a:rPr sz="1700" b="1" dirty="0"/>
                        <a:t>Wk.</a:t>
                      </a:r>
                      <a:r>
                        <a:rPr sz="1700" b="1" spc="-30" dirty="0"/>
                        <a:t> </a:t>
                      </a:r>
                      <a:r>
                        <a:rPr sz="1700" b="1" spc="-25" dirty="0"/>
                        <a:t>1</a:t>
                      </a:r>
                      <a:r>
                        <a:rPr lang="fr-FR" sz="1700" b="1" spc="-25" dirty="0"/>
                        <a:t>0</a:t>
                      </a:r>
                      <a:endParaRPr sz="1700" dirty="0">
                        <a:latin typeface="Calibri"/>
                        <a:cs typeface="Calibri"/>
                      </a:endParaRPr>
                    </a:p>
                  </a:txBody>
                  <a:tcPr marL="0" marR="0" marT="5976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Multilayer</a:t>
                      </a:r>
                      <a:r>
                        <a:rPr sz="1900" spc="-35" dirty="0"/>
                        <a:t> </a:t>
                      </a:r>
                      <a:r>
                        <a:rPr sz="1900" dirty="0"/>
                        <a:t>Perceptron</a:t>
                      </a:r>
                      <a:r>
                        <a:rPr sz="1900" spc="-20" dirty="0"/>
                        <a:t> </a:t>
                      </a:r>
                      <a:r>
                        <a:rPr sz="1600" b="1" dirty="0"/>
                        <a:t>[MLP]</a:t>
                      </a:r>
                      <a:r>
                        <a:rPr sz="1900" dirty="0"/>
                        <a:t>,</a:t>
                      </a:r>
                      <a:r>
                        <a:rPr sz="1900" spc="-35" dirty="0"/>
                        <a:t> </a:t>
                      </a:r>
                      <a:r>
                        <a:rPr lang="fr-FR" sz="1900" spc="-35" dirty="0"/>
                        <a:t>Introduction</a:t>
                      </a:r>
                      <a:r>
                        <a:rPr sz="1900" spc="-30" dirty="0"/>
                        <a:t> </a:t>
                      </a:r>
                      <a:r>
                        <a:rPr sz="1900" dirty="0"/>
                        <a:t>to</a:t>
                      </a:r>
                      <a:r>
                        <a:rPr sz="1900" spc="-35" dirty="0"/>
                        <a:t> </a:t>
                      </a:r>
                      <a:r>
                        <a:rPr sz="1900" dirty="0"/>
                        <a:t>Artificial</a:t>
                      </a:r>
                      <a:r>
                        <a:rPr sz="1900" spc="-20" dirty="0"/>
                        <a:t> </a:t>
                      </a:r>
                      <a:r>
                        <a:rPr sz="1900" dirty="0"/>
                        <a:t>Neural</a:t>
                      </a:r>
                      <a:r>
                        <a:rPr sz="1900" spc="-40" dirty="0"/>
                        <a:t> </a:t>
                      </a:r>
                      <a:r>
                        <a:rPr sz="1900" dirty="0"/>
                        <a:t>Networks</a:t>
                      </a:r>
                      <a:r>
                        <a:rPr sz="1900" spc="-40" dirty="0"/>
                        <a:t> </a:t>
                      </a:r>
                      <a:r>
                        <a:rPr sz="1600" b="1" spc="-10" dirty="0"/>
                        <a:t>[ANNs]</a:t>
                      </a:r>
                      <a:endParaRPr sz="1600" b="1"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12"/>
                  </a:ext>
                </a:extLst>
              </a:tr>
              <a:tr h="327365">
                <a:tc>
                  <a:txBody>
                    <a:bodyPr/>
                    <a:lstStyle/>
                    <a:p>
                      <a:pPr marR="3810" algn="ctr">
                        <a:lnSpc>
                          <a:spcPct val="100000"/>
                        </a:lnSpc>
                        <a:spcBef>
                          <a:spcPts val="450"/>
                        </a:spcBef>
                      </a:pPr>
                      <a:r>
                        <a:rPr lang="fr-FR" sz="1700" b="1" dirty="0"/>
                        <a:t>  </a:t>
                      </a:r>
                      <a:r>
                        <a:rPr sz="1700" b="1" dirty="0"/>
                        <a:t>Wk.</a:t>
                      </a:r>
                      <a:r>
                        <a:rPr sz="1700" b="1" spc="-30" dirty="0"/>
                        <a:t> </a:t>
                      </a:r>
                      <a:r>
                        <a:rPr sz="1700" b="1" spc="-25" dirty="0"/>
                        <a:t>1</a:t>
                      </a:r>
                      <a:r>
                        <a:rPr lang="fr-FR" sz="1700" b="1" spc="-25" dirty="0"/>
                        <a:t>1</a:t>
                      </a:r>
                      <a:endParaRPr sz="1700" dirty="0">
                        <a:latin typeface="Calibri"/>
                        <a:cs typeface="Calibri"/>
                      </a:endParaRPr>
                    </a:p>
                  </a:txBody>
                  <a:tcPr marL="0" marR="0" marT="5976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tc>
                  <a:txBody>
                    <a:bodyPr/>
                    <a:lstStyle/>
                    <a:p>
                      <a:pPr marL="502920" lvl="1">
                        <a:lnSpc>
                          <a:spcPct val="100000"/>
                        </a:lnSpc>
                        <a:spcBef>
                          <a:spcPts val="305"/>
                        </a:spcBef>
                      </a:pPr>
                      <a:r>
                        <a:rPr sz="1900" dirty="0"/>
                        <a:t>Loss</a:t>
                      </a:r>
                      <a:r>
                        <a:rPr sz="1900" spc="-50" dirty="0"/>
                        <a:t> </a:t>
                      </a:r>
                      <a:r>
                        <a:rPr sz="1900" dirty="0"/>
                        <a:t>Functions,</a:t>
                      </a:r>
                      <a:r>
                        <a:rPr sz="1900" spc="-45" dirty="0"/>
                        <a:t> </a:t>
                      </a:r>
                      <a:r>
                        <a:rPr sz="1900" dirty="0"/>
                        <a:t>Weights</a:t>
                      </a:r>
                      <a:r>
                        <a:rPr sz="1900" spc="-40" dirty="0"/>
                        <a:t> </a:t>
                      </a:r>
                      <a:r>
                        <a:rPr sz="1900" dirty="0"/>
                        <a:t>Optimization,</a:t>
                      </a:r>
                      <a:r>
                        <a:rPr sz="1900" spc="-35" dirty="0"/>
                        <a:t> </a:t>
                      </a:r>
                      <a:r>
                        <a:rPr sz="1900" dirty="0"/>
                        <a:t>Support</a:t>
                      </a:r>
                      <a:r>
                        <a:rPr sz="1900" spc="-50" dirty="0"/>
                        <a:t> </a:t>
                      </a:r>
                      <a:r>
                        <a:rPr sz="1900" dirty="0"/>
                        <a:t>Vector</a:t>
                      </a:r>
                      <a:r>
                        <a:rPr sz="1900" spc="-45" dirty="0"/>
                        <a:t> </a:t>
                      </a:r>
                      <a:r>
                        <a:rPr sz="1900" dirty="0"/>
                        <a:t>Machines</a:t>
                      </a:r>
                      <a:r>
                        <a:rPr sz="1900" spc="-35" dirty="0"/>
                        <a:t> </a:t>
                      </a:r>
                      <a:r>
                        <a:rPr sz="1600" b="1" spc="-10" dirty="0"/>
                        <a:t>[SVMs]</a:t>
                      </a:r>
                      <a:endParaRPr sz="1600" b="1" dirty="0">
                        <a:latin typeface="Calibri"/>
                        <a:cs typeface="Calibri"/>
                      </a:endParaRPr>
                    </a:p>
                  </a:txBody>
                  <a:tcPr marL="0" marR="0" marT="40506"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rgbClr val="8ADDB0"/>
                      </a:solidFill>
                      <a:prstDash val="solid"/>
                      <a:round/>
                      <a:headEnd type="none" w="med" len="med"/>
                      <a:tailEnd type="none" w="med" len="med"/>
                    </a:lnB>
                  </a:tcPr>
                </a:tc>
                <a:extLst>
                  <a:ext uri="{0D108BD9-81ED-4DB2-BD59-A6C34878D82A}">
                    <a16:rowId xmlns:a16="http://schemas.microsoft.com/office/drawing/2014/main" val="10013"/>
                  </a:ext>
                </a:extLst>
              </a:tr>
              <a:tr h="328029">
                <a:tc>
                  <a:txBody>
                    <a:bodyPr/>
                    <a:lstStyle/>
                    <a:p>
                      <a:pPr marR="3810" algn="ctr">
                        <a:lnSpc>
                          <a:spcPct val="100000"/>
                        </a:lnSpc>
                        <a:spcBef>
                          <a:spcPts val="450"/>
                        </a:spcBef>
                      </a:pPr>
                      <a:r>
                        <a:rPr lang="fr-FR" sz="1700" b="1" dirty="0"/>
                        <a:t>  </a:t>
                      </a:r>
                      <a:r>
                        <a:rPr sz="1700" b="1" dirty="0"/>
                        <a:t>Wk.</a:t>
                      </a:r>
                      <a:r>
                        <a:rPr sz="1700" b="1" spc="-30" dirty="0"/>
                        <a:t> </a:t>
                      </a:r>
                      <a:r>
                        <a:rPr sz="1700" b="1" spc="-25" dirty="0"/>
                        <a:t>1</a:t>
                      </a:r>
                      <a:r>
                        <a:rPr lang="fr-FR" sz="1700" b="1" spc="-25" dirty="0"/>
                        <a:t>2</a:t>
                      </a:r>
                      <a:endParaRPr sz="1700" dirty="0">
                        <a:latin typeface="Calibri"/>
                        <a:cs typeface="Calibri"/>
                      </a:endParaRPr>
                    </a:p>
                  </a:txBody>
                  <a:tcPr marL="0" marR="0" marT="59762"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502920" lvl="1">
                        <a:lnSpc>
                          <a:spcPct val="100000"/>
                        </a:lnSpc>
                        <a:spcBef>
                          <a:spcPts val="310"/>
                        </a:spcBef>
                      </a:pPr>
                      <a:r>
                        <a:rPr sz="1900" dirty="0"/>
                        <a:t>Heuristic</a:t>
                      </a:r>
                      <a:r>
                        <a:rPr sz="1900" spc="-55" dirty="0"/>
                        <a:t> </a:t>
                      </a:r>
                      <a:r>
                        <a:rPr sz="1900" dirty="0"/>
                        <a:t>Optimization,</a:t>
                      </a:r>
                      <a:r>
                        <a:rPr sz="1900" spc="-35" dirty="0"/>
                        <a:t> </a:t>
                      </a:r>
                      <a:r>
                        <a:rPr sz="1900" dirty="0"/>
                        <a:t>Hill</a:t>
                      </a:r>
                      <a:r>
                        <a:rPr sz="1900" spc="-50" dirty="0"/>
                        <a:t> </a:t>
                      </a:r>
                      <a:r>
                        <a:rPr sz="1900" dirty="0"/>
                        <a:t>Climbing,</a:t>
                      </a:r>
                      <a:r>
                        <a:rPr sz="1900" spc="-45" dirty="0"/>
                        <a:t> </a:t>
                      </a:r>
                      <a:r>
                        <a:rPr sz="1900" dirty="0"/>
                        <a:t>Gradient</a:t>
                      </a:r>
                      <a:r>
                        <a:rPr sz="1900" spc="-55" dirty="0"/>
                        <a:t> </a:t>
                      </a:r>
                      <a:r>
                        <a:rPr sz="1900" dirty="0"/>
                        <a:t>Descent,</a:t>
                      </a:r>
                      <a:r>
                        <a:rPr sz="1900" spc="-55" dirty="0"/>
                        <a:t> </a:t>
                      </a:r>
                      <a:r>
                        <a:rPr sz="1900" dirty="0"/>
                        <a:t>Simulated</a:t>
                      </a:r>
                      <a:r>
                        <a:rPr sz="1900" spc="-45" dirty="0"/>
                        <a:t> </a:t>
                      </a:r>
                      <a:r>
                        <a:rPr sz="1900" spc="-10" dirty="0"/>
                        <a:t>Annealing</a:t>
                      </a:r>
                      <a:endParaRPr sz="1900" dirty="0">
                        <a:latin typeface="Calibri"/>
                        <a:cs typeface="Calibri"/>
                      </a:endParaRPr>
                    </a:p>
                  </a:txBody>
                  <a:tcPr marL="0" marR="0" marT="4117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ADDB0"/>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3" name="Slide Number Placeholder 2">
            <a:extLst>
              <a:ext uri="{FF2B5EF4-FFF2-40B4-BE49-F238E27FC236}">
                <a16:creationId xmlns:a16="http://schemas.microsoft.com/office/drawing/2014/main" id="{B7CBD45C-171E-7000-DEB7-84F72A24F381}"/>
              </a:ext>
            </a:extLst>
          </p:cNvPr>
          <p:cNvSpPr>
            <a:spLocks noGrp="1"/>
          </p:cNvSpPr>
          <p:nvPr>
            <p:ph type="sldNum" sz="quarter" idx="12"/>
          </p:nvPr>
        </p:nvSpPr>
        <p:spPr/>
        <p:txBody>
          <a:bodyPr/>
          <a:lstStyle/>
          <a:p>
            <a:fld id="{AA64B1FB-CC2F-4DD5-A068-EEAB847401EC}" type="slidenum">
              <a:rPr lang="en-GB" smtClean="0"/>
              <a:t>10</a:t>
            </a:fld>
            <a:endParaRPr lang="en-GB"/>
          </a:p>
        </p:txBody>
      </p:sp>
    </p:spTree>
    <p:extLst>
      <p:ext uri="{BB962C8B-B14F-4D97-AF65-F5344CB8AC3E}">
        <p14:creationId xmlns:p14="http://schemas.microsoft.com/office/powerpoint/2010/main" val="2472960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4B7355-1ACB-543B-DB23-7DEED77B6451}"/>
              </a:ext>
            </a:extLst>
          </p:cNvPr>
          <p:cNvSpPr/>
          <p:nvPr/>
        </p:nvSpPr>
        <p:spPr>
          <a:xfrm>
            <a:off x="0" y="5029198"/>
            <a:ext cx="12192000" cy="1828804"/>
          </a:xfrm>
          <a:prstGeom prst="rect">
            <a:avLst/>
          </a:prstGeom>
          <a:solidFill>
            <a:srgbClr val="3439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F10583B-A012-FD27-1CF2-6FB0A5F64643}"/>
              </a:ext>
            </a:extLst>
          </p:cNvPr>
          <p:cNvSpPr/>
          <p:nvPr/>
        </p:nvSpPr>
        <p:spPr>
          <a:xfrm flipV="1">
            <a:off x="400051" y="6276975"/>
            <a:ext cx="1885950" cy="289746"/>
          </a:xfrm>
          <a:custGeom>
            <a:avLst/>
            <a:gdLst>
              <a:gd name="connsiteX0" fmla="*/ 0 w 1704975"/>
              <a:gd name="connsiteY0" fmla="*/ 0 h 476250"/>
              <a:gd name="connsiteX1" fmla="*/ 1704975 w 1704975"/>
              <a:gd name="connsiteY1" fmla="*/ 0 h 476250"/>
              <a:gd name="connsiteX2" fmla="*/ 1704975 w 1704975"/>
              <a:gd name="connsiteY2" fmla="*/ 476250 h 476250"/>
              <a:gd name="connsiteX3" fmla="*/ 0 w 1704975"/>
              <a:gd name="connsiteY3" fmla="*/ 476250 h 476250"/>
              <a:gd name="connsiteX4" fmla="*/ 0 w 1704975"/>
              <a:gd name="connsiteY4" fmla="*/ 0 h 476250"/>
              <a:gd name="connsiteX0" fmla="*/ 0 w 1885950"/>
              <a:gd name="connsiteY0" fmla="*/ 0 h 476250"/>
              <a:gd name="connsiteX1" fmla="*/ 1885950 w 1885950"/>
              <a:gd name="connsiteY1" fmla="*/ 0 h 476250"/>
              <a:gd name="connsiteX2" fmla="*/ 1704975 w 1885950"/>
              <a:gd name="connsiteY2" fmla="*/ 476250 h 476250"/>
              <a:gd name="connsiteX3" fmla="*/ 0 w 1885950"/>
              <a:gd name="connsiteY3" fmla="*/ 476250 h 476250"/>
              <a:gd name="connsiteX4" fmla="*/ 0 w 1885950"/>
              <a:gd name="connsiteY4" fmla="*/ 0 h 476250"/>
              <a:gd name="connsiteX0" fmla="*/ 228600 w 1885950"/>
              <a:gd name="connsiteY0" fmla="*/ 0 h 485775"/>
              <a:gd name="connsiteX1" fmla="*/ 1885950 w 1885950"/>
              <a:gd name="connsiteY1" fmla="*/ 9525 h 485775"/>
              <a:gd name="connsiteX2" fmla="*/ 1704975 w 1885950"/>
              <a:gd name="connsiteY2" fmla="*/ 485775 h 485775"/>
              <a:gd name="connsiteX3" fmla="*/ 0 w 1885950"/>
              <a:gd name="connsiteY3" fmla="*/ 485775 h 485775"/>
              <a:gd name="connsiteX4" fmla="*/ 228600 w 1885950"/>
              <a:gd name="connsiteY4" fmla="*/ 0 h 485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5950" h="485775">
                <a:moveTo>
                  <a:pt x="228600" y="0"/>
                </a:moveTo>
                <a:lnTo>
                  <a:pt x="1885950" y="9525"/>
                </a:lnTo>
                <a:lnTo>
                  <a:pt x="1704975" y="485775"/>
                </a:lnTo>
                <a:lnTo>
                  <a:pt x="0" y="485775"/>
                </a:lnTo>
                <a:lnTo>
                  <a:pt x="228600" y="0"/>
                </a:lnTo>
                <a:close/>
              </a:path>
            </a:pathLst>
          </a:custGeom>
          <a:solidFill>
            <a:srgbClr val="00A6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7">
            <a:extLst>
              <a:ext uri="{FF2B5EF4-FFF2-40B4-BE49-F238E27FC236}">
                <a16:creationId xmlns:a16="http://schemas.microsoft.com/office/drawing/2014/main" id="{E763A33B-2AFA-BF33-37BF-40FDDB220708}"/>
              </a:ext>
            </a:extLst>
          </p:cNvPr>
          <p:cNvSpPr/>
          <p:nvPr/>
        </p:nvSpPr>
        <p:spPr>
          <a:xfrm>
            <a:off x="10020302" y="6276975"/>
            <a:ext cx="1885950" cy="289746"/>
          </a:xfrm>
          <a:custGeom>
            <a:avLst/>
            <a:gdLst>
              <a:gd name="connsiteX0" fmla="*/ 0 w 1704975"/>
              <a:gd name="connsiteY0" fmla="*/ 0 h 476250"/>
              <a:gd name="connsiteX1" fmla="*/ 1704975 w 1704975"/>
              <a:gd name="connsiteY1" fmla="*/ 0 h 476250"/>
              <a:gd name="connsiteX2" fmla="*/ 1704975 w 1704975"/>
              <a:gd name="connsiteY2" fmla="*/ 476250 h 476250"/>
              <a:gd name="connsiteX3" fmla="*/ 0 w 1704975"/>
              <a:gd name="connsiteY3" fmla="*/ 476250 h 476250"/>
              <a:gd name="connsiteX4" fmla="*/ 0 w 1704975"/>
              <a:gd name="connsiteY4" fmla="*/ 0 h 476250"/>
              <a:gd name="connsiteX0" fmla="*/ 0 w 1885950"/>
              <a:gd name="connsiteY0" fmla="*/ 0 h 476250"/>
              <a:gd name="connsiteX1" fmla="*/ 1885950 w 1885950"/>
              <a:gd name="connsiteY1" fmla="*/ 0 h 476250"/>
              <a:gd name="connsiteX2" fmla="*/ 1704975 w 1885950"/>
              <a:gd name="connsiteY2" fmla="*/ 476250 h 476250"/>
              <a:gd name="connsiteX3" fmla="*/ 0 w 1885950"/>
              <a:gd name="connsiteY3" fmla="*/ 476250 h 476250"/>
              <a:gd name="connsiteX4" fmla="*/ 0 w 1885950"/>
              <a:gd name="connsiteY4" fmla="*/ 0 h 476250"/>
              <a:gd name="connsiteX0" fmla="*/ 228600 w 1885950"/>
              <a:gd name="connsiteY0" fmla="*/ 0 h 485775"/>
              <a:gd name="connsiteX1" fmla="*/ 1885950 w 1885950"/>
              <a:gd name="connsiteY1" fmla="*/ 9525 h 485775"/>
              <a:gd name="connsiteX2" fmla="*/ 1704975 w 1885950"/>
              <a:gd name="connsiteY2" fmla="*/ 485775 h 485775"/>
              <a:gd name="connsiteX3" fmla="*/ 0 w 1885950"/>
              <a:gd name="connsiteY3" fmla="*/ 485775 h 485775"/>
              <a:gd name="connsiteX4" fmla="*/ 228600 w 1885950"/>
              <a:gd name="connsiteY4" fmla="*/ 0 h 485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5950" h="485775">
                <a:moveTo>
                  <a:pt x="228600" y="0"/>
                </a:moveTo>
                <a:lnTo>
                  <a:pt x="1885950" y="9525"/>
                </a:lnTo>
                <a:lnTo>
                  <a:pt x="1704975" y="485775"/>
                </a:lnTo>
                <a:lnTo>
                  <a:pt x="0" y="485775"/>
                </a:lnTo>
                <a:lnTo>
                  <a:pt x="228600" y="0"/>
                </a:lnTo>
                <a:close/>
              </a:path>
            </a:pathLst>
          </a:custGeom>
          <a:solidFill>
            <a:srgbClr val="00A6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3E404380-04EC-8F8E-FAA4-DD51BD30C9E3}"/>
              </a:ext>
            </a:extLst>
          </p:cNvPr>
          <p:cNvPicPr>
            <a:picLocks noChangeAspect="1"/>
          </p:cNvPicPr>
          <p:nvPr/>
        </p:nvPicPr>
        <p:blipFill>
          <a:blip r:embed="rId2">
            <a:extLst>
              <a:ext uri="{28A0092B-C50C-407E-A947-70E740481C1C}">
                <a14:useLocalDpi xmlns:a14="http://schemas.microsoft.com/office/drawing/2010/main" val="0"/>
              </a:ext>
            </a:extLst>
          </a:blip>
          <a:srcRect l="33333" t="18093" r="33631" b="34954"/>
          <a:stretch/>
        </p:blipFill>
        <p:spPr>
          <a:xfrm>
            <a:off x="5548312" y="5162549"/>
            <a:ext cx="1057275" cy="857251"/>
          </a:xfrm>
          <a:prstGeom prst="rect">
            <a:avLst/>
          </a:prstGeom>
        </p:spPr>
      </p:pic>
      <p:grpSp>
        <p:nvGrpSpPr>
          <p:cNvPr id="19" name="Group 18">
            <a:extLst>
              <a:ext uri="{FF2B5EF4-FFF2-40B4-BE49-F238E27FC236}">
                <a16:creationId xmlns:a16="http://schemas.microsoft.com/office/drawing/2014/main" id="{A690AC35-0D90-7588-69A4-CE37E3BD3220}"/>
              </a:ext>
            </a:extLst>
          </p:cNvPr>
          <p:cNvGrpSpPr/>
          <p:nvPr/>
        </p:nvGrpSpPr>
        <p:grpSpPr>
          <a:xfrm>
            <a:off x="2871790" y="6276975"/>
            <a:ext cx="7186612" cy="408048"/>
            <a:chOff x="2681290" y="6305550"/>
            <a:chExt cx="7186612" cy="408048"/>
          </a:xfrm>
        </p:grpSpPr>
        <p:sp>
          <p:nvSpPr>
            <p:cNvPr id="13" name="Text Placeholder 1">
              <a:extLst>
                <a:ext uri="{FF2B5EF4-FFF2-40B4-BE49-F238E27FC236}">
                  <a16:creationId xmlns:a16="http://schemas.microsoft.com/office/drawing/2014/main" id="{6CBD5854-FAF1-E7E0-28B9-83D835B28598}"/>
                </a:ext>
              </a:extLst>
            </p:cNvPr>
            <p:cNvSpPr txBox="1">
              <a:spLocks/>
            </p:cNvSpPr>
            <p:nvPr/>
          </p:nvSpPr>
          <p:spPr>
            <a:xfrm>
              <a:off x="2895601" y="6315075"/>
              <a:ext cx="3448050" cy="398523"/>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Arial"/>
                  <a:cs typeface="Arial" pitchFamily="34" charset="0"/>
                </a:rPr>
                <a:t>Bento.me/</a:t>
              </a:r>
              <a:r>
                <a:rPr kumimoji="0" lang="en-US" sz="1400" i="0" u="none" strike="noStrike" kern="1200" cap="none" spc="0" normalizeH="0" baseline="0" noProof="0" dirty="0" err="1">
                  <a:ln>
                    <a:noFill/>
                  </a:ln>
                  <a:solidFill>
                    <a:schemeClr val="bg1"/>
                  </a:solidFill>
                  <a:effectLst/>
                  <a:uLnTx/>
                  <a:uFillTx/>
                  <a:latin typeface="Arial"/>
                  <a:cs typeface="Arial" pitchFamily="34" charset="0"/>
                </a:rPr>
                <a:t>mohamed</a:t>
              </a:r>
              <a:r>
                <a:rPr kumimoji="0" lang="en-US" sz="1400" i="0" u="none" strike="noStrike" kern="1200" cap="none" spc="0" normalizeH="0" baseline="0" noProof="0" dirty="0">
                  <a:ln>
                    <a:noFill/>
                  </a:ln>
                  <a:solidFill>
                    <a:schemeClr val="bg1"/>
                  </a:solidFill>
                  <a:effectLst/>
                  <a:uLnTx/>
                  <a:uFillTx/>
                  <a:latin typeface="Arial"/>
                  <a:cs typeface="Arial" pitchFamily="34" charset="0"/>
                </a:rPr>
                <a:t>-</a:t>
              </a:r>
              <a:r>
                <a:rPr kumimoji="0" lang="en-US" sz="1400" i="0" u="none" strike="noStrike" kern="1200" cap="none" spc="0" normalizeH="0" baseline="0" noProof="0" dirty="0" err="1">
                  <a:ln>
                    <a:noFill/>
                  </a:ln>
                  <a:solidFill>
                    <a:schemeClr val="bg1"/>
                  </a:solidFill>
                  <a:effectLst/>
                  <a:uLnTx/>
                  <a:uFillTx/>
                  <a:latin typeface="Arial"/>
                  <a:cs typeface="Arial" pitchFamily="34" charset="0"/>
                </a:rPr>
                <a:t>aziz</a:t>
              </a:r>
              <a:r>
                <a:rPr kumimoji="0" lang="en-US" sz="1400" i="0" u="none" strike="noStrike" kern="1200" cap="none" spc="0" normalizeH="0" baseline="0" noProof="0" dirty="0">
                  <a:ln>
                    <a:noFill/>
                  </a:ln>
                  <a:solidFill>
                    <a:schemeClr val="bg1"/>
                  </a:solidFill>
                  <a:effectLst/>
                  <a:uLnTx/>
                  <a:uFillTx/>
                  <a:latin typeface="Arial"/>
                  <a:cs typeface="Arial" pitchFamily="34" charset="0"/>
                </a:rPr>
                <a:t>-ben-</a:t>
              </a:r>
              <a:r>
                <a:rPr kumimoji="0" lang="en-US" sz="1400" i="0" u="none" strike="noStrike" kern="1200" cap="none" spc="0" normalizeH="0" baseline="0" noProof="0" dirty="0" err="1">
                  <a:ln>
                    <a:noFill/>
                  </a:ln>
                  <a:solidFill>
                    <a:schemeClr val="bg1"/>
                  </a:solidFill>
                  <a:effectLst/>
                  <a:uLnTx/>
                  <a:uFillTx/>
                  <a:latin typeface="Arial"/>
                  <a:cs typeface="Arial" pitchFamily="34" charset="0"/>
                </a:rPr>
                <a:t>haha</a:t>
              </a:r>
              <a:endParaRPr kumimoji="0" lang="en-US" sz="1400" i="0" u="none" strike="noStrike" kern="1200" cap="none" spc="0" normalizeH="0" baseline="0" noProof="0" dirty="0">
                <a:ln>
                  <a:noFill/>
                </a:ln>
                <a:solidFill>
                  <a:schemeClr val="bg1"/>
                </a:solidFill>
                <a:effectLst/>
                <a:uLnTx/>
                <a:uFillTx/>
                <a:latin typeface="Arial"/>
                <a:cs typeface="Arial" pitchFamily="34" charset="0"/>
              </a:endParaRPr>
            </a:p>
          </p:txBody>
        </p:sp>
        <p:sp>
          <p:nvSpPr>
            <p:cNvPr id="14" name="Text Placeholder 1">
              <a:extLst>
                <a:ext uri="{FF2B5EF4-FFF2-40B4-BE49-F238E27FC236}">
                  <a16:creationId xmlns:a16="http://schemas.microsoft.com/office/drawing/2014/main" id="{0C461F98-93CB-BB50-8AD7-44A6DC437BFB}"/>
                </a:ext>
              </a:extLst>
            </p:cNvPr>
            <p:cNvSpPr txBox="1">
              <a:spLocks/>
            </p:cNvSpPr>
            <p:nvPr/>
          </p:nvSpPr>
          <p:spPr>
            <a:xfrm>
              <a:off x="6419852" y="6305550"/>
              <a:ext cx="3448050" cy="398523"/>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bg1"/>
                  </a:solidFill>
                  <a:latin typeface="Arial"/>
                </a:rPr>
                <a:t>mohamedaziz.benhaha@supcom.tn</a:t>
              </a:r>
              <a:endParaRPr kumimoji="0" lang="en-US" sz="1400" i="0" u="none" strike="noStrike" kern="1200" cap="none" spc="0" normalizeH="0" baseline="0" noProof="0" dirty="0">
                <a:ln>
                  <a:noFill/>
                </a:ln>
                <a:solidFill>
                  <a:schemeClr val="bg1"/>
                </a:solidFill>
                <a:effectLst/>
                <a:uLnTx/>
                <a:uFillTx/>
                <a:latin typeface="Arial"/>
                <a:cs typeface="Arial" pitchFamily="34" charset="0"/>
              </a:endParaRPr>
            </a:p>
          </p:txBody>
        </p:sp>
        <p:pic>
          <p:nvPicPr>
            <p:cNvPr id="16" name="Picture 15">
              <a:extLst>
                <a:ext uri="{FF2B5EF4-FFF2-40B4-BE49-F238E27FC236}">
                  <a16:creationId xmlns:a16="http://schemas.microsoft.com/office/drawing/2014/main" id="{CEFA45C9-12F2-3F45-2D68-54F86938B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1290" y="6433372"/>
              <a:ext cx="161925" cy="161925"/>
            </a:xfrm>
            <a:prstGeom prst="rect">
              <a:avLst/>
            </a:prstGeom>
          </p:spPr>
        </p:pic>
        <p:pic>
          <p:nvPicPr>
            <p:cNvPr id="18" name="Picture 17">
              <a:extLst>
                <a:ext uri="{FF2B5EF4-FFF2-40B4-BE49-F238E27FC236}">
                  <a16:creationId xmlns:a16="http://schemas.microsoft.com/office/drawing/2014/main" id="{5D7483EF-EC05-4736-4C16-1D808DECC0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5062" y="6452423"/>
              <a:ext cx="161925" cy="123825"/>
            </a:xfrm>
            <a:prstGeom prst="rect">
              <a:avLst/>
            </a:prstGeom>
          </p:spPr>
        </p:pic>
      </p:grpSp>
      <p:sp>
        <p:nvSpPr>
          <p:cNvPr id="20" name="TextBox 19">
            <a:extLst>
              <a:ext uri="{FF2B5EF4-FFF2-40B4-BE49-F238E27FC236}">
                <a16:creationId xmlns:a16="http://schemas.microsoft.com/office/drawing/2014/main" id="{470B09E0-2D4F-EAA8-A5D6-D40F6B09B960}"/>
              </a:ext>
            </a:extLst>
          </p:cNvPr>
          <p:cNvSpPr txBox="1"/>
          <p:nvPr/>
        </p:nvSpPr>
        <p:spPr>
          <a:xfrm>
            <a:off x="1210773" y="1464807"/>
            <a:ext cx="9770451" cy="1015663"/>
          </a:xfrm>
          <a:prstGeom prst="rect">
            <a:avLst/>
          </a:prstGeom>
          <a:noFill/>
        </p:spPr>
        <p:txBody>
          <a:bodyPr wrap="square">
            <a:spAutoFit/>
          </a:bodyPr>
          <a:lstStyle/>
          <a:p>
            <a:pPr algn="l"/>
            <a:r>
              <a:rPr lang="en-GB" sz="6000" b="1" i="0" dirty="0">
                <a:solidFill>
                  <a:srgbClr val="5A9BD5"/>
                </a:solidFill>
                <a:effectLst/>
              </a:rPr>
              <a:t>Thank you for your attention !</a:t>
            </a:r>
            <a:endParaRPr lang="en-GB" sz="6000" b="0" i="0" dirty="0">
              <a:solidFill>
                <a:srgbClr val="5A9BD5"/>
              </a:solidFill>
              <a:effectLst/>
            </a:endParaRPr>
          </a:p>
        </p:txBody>
      </p:sp>
      <p:sp>
        <p:nvSpPr>
          <p:cNvPr id="21" name="Text Placeholder 1">
            <a:extLst>
              <a:ext uri="{FF2B5EF4-FFF2-40B4-BE49-F238E27FC236}">
                <a16:creationId xmlns:a16="http://schemas.microsoft.com/office/drawing/2014/main" id="{61A25DF3-8A84-7677-F882-0EF5971720CB}"/>
              </a:ext>
            </a:extLst>
          </p:cNvPr>
          <p:cNvSpPr txBox="1">
            <a:spLocks/>
          </p:cNvSpPr>
          <p:nvPr/>
        </p:nvSpPr>
        <p:spPr>
          <a:xfrm>
            <a:off x="3131343" y="2737645"/>
            <a:ext cx="5929310"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i="0" u="none" strike="noStrike" kern="1200" cap="none" spc="0" normalizeH="0" baseline="0" noProof="0" dirty="0">
                <a:ln>
                  <a:noFill/>
                </a:ln>
                <a:solidFill>
                  <a:schemeClr val="bg2">
                    <a:lumMod val="50000"/>
                  </a:schemeClr>
                </a:solidFill>
                <a:effectLst/>
                <a:uLnTx/>
                <a:uFillTx/>
                <a:latin typeface="Arial"/>
                <a:cs typeface="Arial" pitchFamily="34" charset="0"/>
              </a:rPr>
              <a:t>Any questions ? </a:t>
            </a:r>
            <a:r>
              <a:rPr kumimoji="0" lang="en-US" sz="2000" i="0" u="none" strike="noStrike" kern="1200" cap="none" spc="0" normalizeH="0" baseline="0" noProof="0" dirty="0">
                <a:ln>
                  <a:noFill/>
                </a:ln>
                <a:solidFill>
                  <a:schemeClr val="bg2">
                    <a:lumMod val="50000"/>
                  </a:schemeClr>
                </a:solidFill>
                <a:effectLst/>
                <a:uLnTx/>
                <a:uFillTx/>
                <a:latin typeface="Arial"/>
                <a:cs typeface="Arial" pitchFamily="34" charset="0"/>
              </a:rPr>
              <a:t>( I love them )</a:t>
            </a:r>
          </a:p>
        </p:txBody>
      </p:sp>
    </p:spTree>
    <p:extLst>
      <p:ext uri="{BB962C8B-B14F-4D97-AF65-F5344CB8AC3E}">
        <p14:creationId xmlns:p14="http://schemas.microsoft.com/office/powerpoint/2010/main" val="2264514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TotalTime>
  <Words>1141</Words>
  <Application>Microsoft Office PowerPoint</Application>
  <PresentationFormat>Widescreen</PresentationFormat>
  <Paragraphs>146</Paragraphs>
  <Slides>11</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 MT</vt:lpstr>
      <vt:lpstr>Calibri</vt:lpstr>
      <vt:lpstr>Calibri Light</vt:lpstr>
      <vt:lpstr>Courier New</vt:lpstr>
      <vt:lpstr>Helvetica Neue</vt:lpstr>
      <vt:lpstr>Söhne</vt:lpstr>
      <vt:lpstr>Wingdings</vt:lpstr>
      <vt:lpstr>Office Theme</vt:lpstr>
      <vt:lpstr>Course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Hadoop</dc:title>
  <dc:creator>Med Aziz ben Haha</dc:creator>
  <cp:lastModifiedBy>Mohamed Aziz Ben Haha</cp:lastModifiedBy>
  <cp:revision>34</cp:revision>
  <cp:lastPrinted>2025-01-26T22:49:59Z</cp:lastPrinted>
  <dcterms:created xsi:type="dcterms:W3CDTF">2023-12-18T02:34:12Z</dcterms:created>
  <dcterms:modified xsi:type="dcterms:W3CDTF">2025-01-27T09:10:10Z</dcterms:modified>
</cp:coreProperties>
</file>